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1097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SISTEMA MULTIAGENTE DE ATENCIÓN OMNICANAL E HIPERAUTOMATIZACIÓN CLÍNICA</a:t>
            </a:r>
          </a:p>
          <a:p>
            <a:pPr>
              <a:spcBef>
                <a:spcPts val="1400"/>
              </a:spcBef>
              <a:defRPr sz="1600">
                <a:solidFill>
                  <a:srgbClr val="0EA5E9"/>
                </a:solidFill>
              </a:defRPr>
            </a:pPr>
            <a:r>
              <a:t>Orquestación con n8n, Supabase pgvector, OpenAI GPT-4o y UiPath RPA sobre ERP Médico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Caso de Aplicación: Clínica Dental Neclatrony (6 Consultorios · 3.500 Pacientes · 8 Doctores)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996696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TRABAJO FINAL DE MÁSTER (TFM) — EBIS BUSINESS TECHSCHOOL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Autora: Sabrina Esposito  |  Programa: Máster en Agentes de IA e Hiperautomatización de Procesos (MAP)</a:t>
            </a:r>
            <a:br/>
            <a:r>
              <a:t>Tribunal Evaluador: EBIS Business Techschool  |  Fecha de Defensa: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1. Contexto Clínico y Diagnóstico Operativo (AS-IS)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🏥 Infraestructura &amp; Carga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6 Consultorios Odontológicos: </a:t>
            </a:r>
            <a:r>
              <a:rPr b="0">
                <a:solidFill>
                  <a:srgbClr val="64748B"/>
                </a:solidFill>
              </a:rPr>
              <a:t>General, Implantes, Ortodoncia, Cirugía, Periodoncia.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3.500 Pacientes Activos: </a:t>
            </a:r>
            <a:r>
              <a:rPr b="0">
                <a:solidFill>
                  <a:srgbClr val="64748B"/>
                </a:solidFill>
              </a:rPr>
              <a:t>Volumen de 40 a 80 solicitudes diarias de turnos y consultas.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8 Horas/Día en Mensajería: </a:t>
            </a:r>
            <a:r>
              <a:rPr b="0">
                <a:solidFill>
                  <a:srgbClr val="64748B"/>
                </a:solidFill>
              </a:rPr>
              <a:t>2 recepcionistas consumen el 50% de su jornada en WhatsApp y llamadas.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Coste Laboral Improductivo: </a:t>
            </a:r>
            <a:r>
              <a:rPr b="0">
                <a:solidFill>
                  <a:srgbClr val="64748B"/>
                </a:solidFill>
              </a:rPr>
              <a:t>57.200 € anuales consumidos en tareas puramente administrativas.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⚠️ Cuellos de Botella Críticos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Latencia de 45 a 120 min: </a:t>
            </a:r>
            <a:r>
              <a:rPr b="0">
                <a:solidFill>
                  <a:srgbClr val="64748B"/>
                </a:solidFill>
              </a:rPr>
              <a:t>Mensajes en cola durante horas punta de atención presencial.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20% Fuga Fuera de Horario: </a:t>
            </a:r>
            <a:r>
              <a:rPr b="0">
                <a:solidFill>
                  <a:srgbClr val="64748B"/>
                </a:solidFill>
              </a:rPr>
              <a:t>Noches y fines de semana sin atención; pacientes acuden a la competencia.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18,5% Tasa de Absentismo: </a:t>
            </a:r>
            <a:r>
              <a:rPr b="0">
                <a:solidFill>
                  <a:srgbClr val="64748B"/>
                </a:solidFill>
              </a:rPr>
              <a:t>Falta de recordatorios proactivos provoca horas de sillón vacías.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ERP Legado sin APIs: </a:t>
            </a:r>
            <a:r>
              <a:rPr b="0">
                <a:solidFill>
                  <a:srgbClr val="64748B"/>
                </a:solidFill>
              </a:rPr>
              <a:t>Carga manual propensa a doble reserva (overbooking) y errores humanos.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🎯 Metas del Estado TO-BE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Atención 24/7 en &lt; 15 seg: </a:t>
            </a:r>
            <a:r>
              <a:rPr b="0">
                <a:solidFill>
                  <a:srgbClr val="64748B"/>
                </a:solidFill>
              </a:rPr>
              <a:t>Disponibilidad permanente para reserva, dudas y triaje nocturno.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&gt; 70% Autogestión con IA: </a:t>
            </a:r>
            <a:r>
              <a:rPr b="0">
                <a:solidFill>
                  <a:srgbClr val="64748B"/>
                </a:solidFill>
              </a:rPr>
              <a:t>Resolución desatendida sin intervención humana en recepción.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Absentismo &lt; 6%: </a:t>
            </a:r>
            <a:r>
              <a:rPr b="0">
                <a:solidFill>
                  <a:srgbClr val="64748B"/>
                </a:solidFill>
              </a:rPr>
              <a:t>Recordatorios 24h interactivos con confirmación y cancelación en 1 clic.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Integración ERP Robusta: </a:t>
            </a:r>
            <a:r>
              <a:rPr b="0">
                <a:solidFill>
                  <a:srgbClr val="64748B"/>
                </a:solidFill>
              </a:rPr>
              <a:t>UiPath ReFramework garantiza 0% errores de doble reserva.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2. Marco Metodológico WAT y Selección del Stack Tecnológico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WORKFLOWS (Flujos)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</a:defRPr>
            </a:pPr>
            <a:r>
              <a:t>Orquestación Centralizada — n8n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Control Lógico Estricto: </a:t>
            </a:r>
            <a:r>
              <a:rPr b="0">
                <a:solidFill>
                  <a:srgbClr val="64748B"/>
                </a:solidFill>
              </a:rPr>
              <a:t>Bifurcaciones condicionales, webhooks síncronos y cron jobs programados.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Procesamiento Nativo JSON: </a:t>
            </a:r>
            <a:r>
              <a:rPr b="0">
                <a:solidFill>
                  <a:srgbClr val="64748B"/>
                </a:solidFill>
              </a:rPr>
              <a:t>Transformación robusta sin las limitaciones de expresiones propietarias.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Gobernanza y RGPD: </a:t>
            </a:r>
            <a:r>
              <a:rPr b="0">
                <a:solidFill>
                  <a:srgbClr val="64748B"/>
                </a:solidFill>
              </a:rPr>
              <a:t>Capacidad de auto-hospedaje (Self-hosted) en servidores europeos protegidos.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Coste Fijo Escalar: </a:t>
            </a:r>
            <a:r>
              <a:rPr b="0">
                <a:solidFill>
                  <a:srgbClr val="64748B"/>
                </a:solidFill>
              </a:rPr>
              <a:t>Sin penalización por créditos o número de operaciones como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AGENTS (Agentes)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</a:defRPr>
            </a:pPr>
            <a:r>
              <a:t>Inteligencia Cognitiva — GPT-4o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Razonamiento Probabilístico: </a:t>
            </a:r>
            <a:r>
              <a:rPr b="0">
                <a:solidFill>
                  <a:srgbClr val="64748B"/>
                </a:solidFill>
              </a:rPr>
              <a:t>Interpretación de lenguaje natural libre y extracción de entidades (slot-filling).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Arquitectura Tripartita: </a:t>
            </a:r>
            <a:r>
              <a:rPr b="0">
                <a:solidFill>
                  <a:srgbClr val="64748B"/>
                </a:solidFill>
              </a:rPr>
              <a:t>Agente Triaje/Clasificador + Agente Gestor de Citas + Agente RAG Clínico.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Structured Outputs: </a:t>
            </a:r>
            <a:r>
              <a:rPr b="0">
                <a:solidFill>
                  <a:srgbClr val="64748B"/>
                </a:solidFill>
              </a:rPr>
              <a:t>Validación rígida de JSON Schema con Temperature=0.0 para evitar desvíos.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Memoria Persistente: </a:t>
            </a:r>
            <a:r>
              <a:rPr b="0">
                <a:solidFill>
                  <a:srgbClr val="64748B"/>
                </a:solidFill>
              </a:rPr>
              <a:t>Seguimiento de sesión por Telegram Chat ID sin pérdida de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TOOLS (Herramientas)</a:t>
            </a:r>
          </a:p>
          <a:p>
            <a:pPr>
              <a:spcBef>
                <a:spcPts val="200"/>
              </a:spcBef>
              <a:defRPr sz="1100" b="1">
                <a:solidFill>
                  <a:srgbClr val="64748B"/>
                </a:solidFill>
              </a:defRPr>
            </a:pPr>
            <a:r>
              <a:t>Ejecución Determinística — Supabase &amp; UiPath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Supabase + pgvector: </a:t>
            </a:r>
            <a:r>
              <a:rPr b="0">
                <a:solidFill>
                  <a:srgbClr val="64748B"/>
                </a:solidFill>
              </a:rPr>
              <a:t>PostgreSQL unificado con búsqueda vectorial de similitud de coseno en &lt; 50 ms.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UiPath ReFramework (RPA): </a:t>
            </a:r>
            <a:r>
              <a:rPr b="0">
                <a:solidFill>
                  <a:srgbClr val="64748B"/>
                </a:solidFill>
              </a:rPr>
              <a:t>Automatización de UI sobre el Mock ERP con selectores semánticos indestructible.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Telegram Bot API: </a:t>
            </a:r>
            <a:r>
              <a:rPr b="0">
                <a:solidFill>
                  <a:srgbClr val="64748B"/>
                </a:solidFill>
              </a:rPr>
              <a:t>Canal oficial con botones interactivos, formato enriquecido y coste cero por mensaje.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Human-in-the-Loop: </a:t>
            </a:r>
            <a:r>
              <a:rPr b="0">
                <a:solidFill>
                  <a:srgbClr val="64748B"/>
                </a:solidFill>
              </a:rPr>
              <a:t>Canal de alerta inmediata para recepcionistas ante fallos o urgencias médicas.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3. Arquitectura Global de Sistemas y Flujo de Integración E2E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221992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947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Capa Omnicanal</a:t>
            </a:r>
          </a:p>
          <a:p>
            <a:pPr>
              <a:spcBef>
                <a:spcPts val="400"/>
              </a:spcBef>
              <a:defRPr sz="1100" b="1">
                <a:solidFill>
                  <a:srgbClr val="0A2540"/>
                </a:solidFill>
              </a:defRPr>
            </a:pPr>
            <a:r>
              <a:t>Telegram Bot API (@NeclatronyDentalBot)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Webhooks bidireccionales, botones interactivos Inline Keyboards, respuesta en &lt; 15 seg.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221992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645920"/>
            <a:ext cx="1947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Capa de Orquestación &amp; IA</a:t>
            </a:r>
          </a:p>
          <a:p>
            <a:pPr>
              <a:spcBef>
                <a:spcPts val="400"/>
              </a:spcBef>
              <a:defRPr sz="1100" b="1">
                <a:solidFill>
                  <a:srgbClr val="0A2540"/>
                </a:solidFill>
              </a:defRPr>
            </a:pPr>
            <a:r>
              <a:t>n8n Cloud / VPS + OpenAI GPT-4o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Normalizador de payload, Router condicional, Agente Triaje, Agente Citas y Agente 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221992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1947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Capa de Datos &amp; Conocimiento</a:t>
            </a:r>
          </a:p>
          <a:p>
            <a:pPr>
              <a:spcBef>
                <a:spcPts val="400"/>
              </a:spcBef>
              <a:defRPr sz="1100" b="1">
                <a:solidFill>
                  <a:srgbClr val="0A2540"/>
                </a:solidFill>
              </a:defRPr>
            </a:pPr>
            <a:r>
              <a:t>Supabase PostgreSQL + pgvector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25 Pacientes, 97 Citas (80% capacidad), Catálogo RAG médico y auditoría forense.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463040"/>
            <a:ext cx="2221992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1645920"/>
            <a:ext cx="1947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4. Capa Robótica RPA</a:t>
            </a:r>
          </a:p>
          <a:p>
            <a:pPr>
              <a:spcBef>
                <a:spcPts val="400"/>
              </a:spcBef>
              <a:defRPr sz="1100" b="1">
                <a:solidFill>
                  <a:srgbClr val="0A2540"/>
                </a:solidFill>
              </a:defRPr>
            </a:pPr>
            <a:r>
              <a:t>UiPath Orchestrator + ReFramework v1.1.9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Robot desatendido sobre Mock ERP web, selectores determinísticos (fecha/hora/paciente).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⚡ Sincronización Asíncrona &amp; Desacoplada: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1) El paciente solicita la cita por Telegram  ➔  2) n8n valida disponibilidad en Supabase sin demoras  ➔  3) Dispara la llamada REST a UiPath Orchestrator  ➔  4) El robot impacta el turno en la web del ERP  ➔  5) Se notifica confirmación en Telegram con teclado interactivo.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4. Arquitectura de Manejo de Errores y Notificación a Recepción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🛡️ Resiliencia en Capa de Orquestación (n8n)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Esquemas JSON Schema Obligatorios: </a:t>
            </a:r>
            <a:r>
              <a:rPr b="0">
                <a:solidFill>
                  <a:srgbClr val="64748B"/>
                </a:solidFill>
              </a:rPr>
              <a:t>Herramientas LangChain configuradas con 'specifyInputSchema: true', evitando fallos de tipado o parámetros desestructurados.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Intercepción Determinística de Botones: </a:t>
            </a:r>
            <a:r>
              <a:rPr b="0">
                <a:solidFill>
                  <a:srgbClr val="64748B"/>
                </a:solidFill>
              </a:rPr>
              <a:t>El 'Normalizador de Mensaje' procesa directamente 'CONFIRMAR_CITA:' y 'CANCELAR_CITA:'. Actualiza Supabase y dispara UiPath antes del LLM, eliminando omisiones del agente.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Resolución Inteligente en Cascada: </a:t>
            </a:r>
            <a:r>
              <a:rPr b="0">
                <a:solidFill>
                  <a:srgbClr val="64748B"/>
                </a:solidFill>
              </a:rPr>
              <a:t>Si el paciente pide cancelar 'la opción 2', el sistema resuelve el código real ('NEC-4096') consultando sus turnos activos por DNI o Chat ID.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Verificación de DNI en Urgencias: </a:t>
            </a:r>
            <a:r>
              <a:rPr b="0">
                <a:solidFill>
                  <a:srgbClr val="64748B"/>
                </a:solidFill>
              </a:rPr>
              <a:t>Exigencia obligatoria de DNI para consultar la ficha clínica antes de alarmar al equipo médico.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🚨 Notificación a Recepción (Human-in-the-Loop)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Selectores Triples en UiPath v1.1.9: </a:t>
            </a:r>
            <a:r>
              <a:rPr b="0">
                <a:solidFill>
                  <a:srgbClr val="64748B"/>
                </a:solidFill>
              </a:rPr>
              <a:t>Coincidencia exacta de 'data-fecha', 'data-hora' y 'data-paciente'. Imposibilita confirmar o cancelar turnos de otros días en vistas multicomparativas.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ReFramework con Reintentos: </a:t>
            </a:r>
            <a:r>
              <a:rPr b="0">
                <a:solidFill>
                  <a:srgbClr val="64748B"/>
                </a:solidFill>
              </a:rPr>
              <a:t>Diferenciación entre BusinessRuleException y SystemException, ejecutando hasta 3 reintentos limpios con reinicio de sesión.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Canal de Alerta en Grupo Telegram (-5137407308): </a:t>
            </a:r>
            <a:r>
              <a:rPr b="0">
                <a:solidFill>
                  <a:srgbClr val="64748B"/>
                </a:solidFill>
              </a:rPr>
              <a:t>Ante cualquier anomalía en RPA o Supabase, se despacha alerta estructurada con Proceso, Paciente, DNI, Turno y detalle técnico del fallo.</a:t>
            </a:r>
          </a:p>
          <a:p>
            <a:pPr>
              <a:spcBef>
                <a:spcPts val="600"/>
              </a:spcBef>
              <a:defRPr b="1" sz="1050">
                <a:solidFill>
                  <a:srgbClr val="1E293B"/>
                </a:solidFill>
              </a:defRPr>
            </a:pPr>
            <a:r>
              <a:t>• Contingencia Operativa en &lt; 2 Minutos: </a:t>
            </a:r>
            <a:r>
              <a:rPr b="0">
                <a:solidFill>
                  <a:srgbClr val="64748B"/>
                </a:solidFill>
              </a:rPr>
              <a:t>Las recepcionistas reciben la alerta y ejecutan la acción manualmente en la web del ERP, garantizando cero citas perdidas.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5. Matriz de Validación de Extremo a Extremo (8 Casos Clave)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TC-01: Alta de Nuevo Paciente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Onboarding completo por Telegram (DNI, Nombre, Teléfono), guardado en Supabase con RGPD y creación de ficha en ERP por UiPath.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7276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TC-02: Pedir Turno y Confirmar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Reserva con Dr. Morales (Implante), validación en Supabase, confirmación interactiva y asentamiento determinístico en ERP.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57276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TC-03: Mismo Turno con Otro Paciente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Gestión de colisión y concurrencia. Prevención de doble reserva ('Anti-Double Booking') y contraoferta automática de huecos libres.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5984" y="157276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TC-04: Cancelar Cita (Inteligente)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Resolución por número de opción (ej: 'la 2') o código 'NEC-XXXX'. Liberación de slot en ERP y estado 'CANCELADA' en Supabase.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5020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TC-05: Cambiar Turno (2 Fases)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Reprogramación en dos fases: cancelación de cita previa (respetando unicidad por especialidad) y nuevo agendamiento.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84048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95020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TC-06: Recordatorios 24h &amp; Botones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Cron Job con Inline Buttons. Intercepción de click 'Confirmar Asistencia', cambio a 'CONFIRMADA' y actualización verde en ERP.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4048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95020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TC-07: Consultas RAG Clínico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Preguntas sobre implantes y Sanitas. Búsqueda vectorial semántica pgvector con respuesta rigurosa sobre precios y cobertura.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840480"/>
            <a:ext cx="25420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3950208"/>
            <a:ext cx="232257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TC-08: Urgencia Médica (HITL)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Detección de traumatismo y dolor agudo. Exigencia previa de DNI, envío de primeros auxilios y alerta prioritaria al grupo de recepción.</a:t>
            </a:r>
          </a:p>
          <a:p>
            <a:pPr>
              <a:spcBef>
                <a:spcPts val="400"/>
              </a:spcBef>
              <a:defRPr sz="900" b="1">
                <a:solidFill>
                  <a:srgbClr val="10B981"/>
                </a:solidFill>
              </a:defRPr>
            </a:pPr>
            <a:r>
              <a:t>✓ ESTADO: SUPERADO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6. Business Case Cuantitativo y Viabilidad Financiera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VAN (8% Descuento)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183.412 €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Rentabilidad neta proyectada a 5 años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55448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TIR (Tasa Interna)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312,4%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Superior a la tasa de corte del 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55448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Payback (Retorno)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4,2 Meses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Recuperación de inversión en el primer año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463040"/>
            <a:ext cx="2542032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55448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ROI Consolidado</a:t>
            </a:r>
          </a:p>
          <a:p>
            <a:pPr>
              <a:spcBef>
                <a:spcPts val="200"/>
              </a:spcBef>
              <a:defRPr sz="2400" b="1">
                <a:solidFill>
                  <a:srgbClr val="2563EB"/>
                </a:solidFill>
              </a:defRPr>
            </a:pPr>
            <a:r>
              <a:t>1.234,8%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Multiplica por 12 veces la inversión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2120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💰 Estructura de Beneficios Operativos Anuales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Tiempo de Recepción Liberado (6,2 h/día): </a:t>
            </a:r>
            <a:r>
              <a:rPr b="0">
                <a:solidFill>
                  <a:srgbClr val="64748B"/>
                </a:solidFill>
              </a:rPr>
              <a:t>+22.165 €/año reorientados a trato presencial.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Rescate de Pacientes Fuera de Horario (85%): </a:t>
            </a:r>
            <a:r>
              <a:rPr b="0">
                <a:solidFill>
                  <a:srgbClr val="64748B"/>
                </a:solidFill>
              </a:rPr>
              <a:t>+18.900 €/año en nuevos tratamientos captados.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Automatización Back-Office Nocturno: </a:t>
            </a:r>
            <a:r>
              <a:rPr b="0">
                <a:solidFill>
                  <a:srgbClr val="64748B"/>
                </a:solidFill>
              </a:rPr>
              <a:t>+12.500 €/año en conciliación con aseguradoras y preparación.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Reducción de Absentismo (No-Show &lt; 6%): </a:t>
            </a:r>
            <a:r>
              <a:rPr b="0">
                <a:solidFill>
                  <a:srgbClr val="64748B"/>
                </a:solidFill>
              </a:rPr>
              <a:t>+7.400 €/año en horas de sillón aprovechadas.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91840"/>
            <a:ext cx="5212080" cy="28346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47472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⚙️ Justificación de la Regla del 80% (UiPath Enterprise)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Franja Diurna (08:00 - 20:00): </a:t>
            </a:r>
            <a:r>
              <a:rPr b="0">
                <a:solidFill>
                  <a:srgbClr val="64748B"/>
                </a:solidFill>
              </a:rPr>
              <a:t>Atención síncrona de citas disparadas por n8n (ocupación media del 45% = 5,4 h).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Franja Nocturna (20:00 - 08:00): </a:t>
            </a:r>
            <a:r>
              <a:rPr b="0">
                <a:solidFill>
                  <a:srgbClr val="64748B"/>
                </a:solidFill>
              </a:rPr>
              <a:t>Procesos batch de back-office: conciliación de aseguradoras (4,5 h), preparación de fichas 24h (5,0 h) y análisis de agendas (4,0 h).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Total Ocupación del Robot: </a:t>
            </a:r>
            <a:r>
              <a:rPr b="0">
                <a:solidFill>
                  <a:srgbClr val="64748B"/>
                </a:solidFill>
              </a:rPr>
              <a:t>18,9 horas productivas diarias sobre 24h (78,75% de ocupación efectiva).</a:t>
            </a:r>
          </a:p>
          <a:p>
            <a:pPr>
              <a:spcBef>
                <a:spcPts val="400"/>
              </a:spcBef>
              <a:defRPr b="1" sz="1000">
                <a:solidFill>
                  <a:srgbClr val="1E293B"/>
                </a:solidFill>
              </a:defRPr>
            </a:pPr>
            <a:r>
              <a:t>• Conclusión de Viabilidad: </a:t>
            </a:r>
            <a:r>
              <a:rPr b="0">
                <a:solidFill>
                  <a:srgbClr val="64748B"/>
                </a:solidFill>
              </a:rPr>
              <a:t>El coste de la licencia desatendida queda 100% justificado y amortizado.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7. Gobernanza Ética, Privacidad y Cumplimiento Normativo (RGPD)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Cumplimiento RGPD &amp; LOPD-GDD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Datos Especiales (Art. 9 RGPD): </a:t>
            </a:r>
            <a:r>
              <a:rPr b="0">
                <a:solidFill>
                  <a:srgbClr val="64748B"/>
                </a:solidFill>
              </a:rPr>
              <a:t>Tratamiento de datos de salud fundamentado en consentimiento explícito y medicina preventiva.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Consentimiento Previo en Telegram: </a:t>
            </a:r>
            <a:r>
              <a:rPr b="0">
                <a:solidFill>
                  <a:srgbClr val="64748B"/>
                </a:solidFill>
              </a:rPr>
              <a:t>Flujo de onboarding con disclaimer legal obligatorio y botón de aceptación antes de registrar datos.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Auditoría Forense Inmutable: </a:t>
            </a:r>
            <a:r>
              <a:rPr b="0">
                <a:solidFill>
                  <a:srgbClr val="64748B"/>
                </a:solidFill>
              </a:rPr>
              <a:t>Tabla 'clinica_auditoria' en Supabase registra timestamp, chat_id anonimizado, prompt y job de UiPath.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Privacidad en el Pipeline de IA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Arquitectura Ciega: </a:t>
            </a:r>
            <a:r>
              <a:rPr b="0">
                <a:solidFill>
                  <a:srgbClr val="64748B"/>
                </a:solidFill>
              </a:rPr>
              <a:t>En ningún caso se envía a OpenAI simultáneamente DNI, Nombre completo y síntoma médico.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Contratos DPA con Proveedores: </a:t>
            </a:r>
            <a:r>
              <a:rPr b="0">
                <a:solidFill>
                  <a:srgbClr val="64748B"/>
                </a:solidFill>
              </a:rPr>
              <a:t>Acuerdos 'Zero Data Retention' que impiden el reentrenamiento de modelos con datos de pacientes.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Cifrado en Reposo y Tránsito: </a:t>
            </a:r>
            <a:r>
              <a:rPr b="0">
                <a:solidFill>
                  <a:srgbClr val="64748B"/>
                </a:solidFill>
              </a:rPr>
              <a:t>TLS 1.3 con validación de Secret Token y cifrado AES-256 en base de datos PostgreSQL.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Gobernanza Human-in-the-Loop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Prohibición de Diagnóstico / Fármacos: </a:t>
            </a:r>
            <a:r>
              <a:rPr b="0">
                <a:solidFill>
                  <a:srgbClr val="64748B"/>
                </a:solidFill>
              </a:rPr>
              <a:t>Guardrails semánticos impiden recetas o diagnósticos automatizados sin evaluación en gabinete.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Triaje con Escalado Humano: </a:t>
            </a:r>
            <a:r>
              <a:rPr b="0">
                <a:solidFill>
                  <a:srgbClr val="64748B"/>
                </a:solidFill>
              </a:rPr>
              <a:t>Toda urgencia médica crítica o queja severa activa notificación sonora prioritaria a recepción.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• EIPD / DPIA Formal (Art. 35): </a:t>
            </a:r>
            <a:r>
              <a:rPr b="0">
                <a:solidFill>
                  <a:srgbClr val="64748B"/>
                </a:solidFill>
              </a:rPr>
              <a:t>Evaluación de impacto completada con riesgo residual categorizado como BAJO / Aceptable.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MÁSTER EN AGENTES DE IA E HIPERAUTOMATIZACIÓN (MAP) — EBIS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8. Conclusiones y Próximos Pasos de Innovación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🏆 Conclusiones Principales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Convergencia IA + RPA Demostrada: </a:t>
            </a:r>
            <a:r>
              <a:rPr b="0">
                <a:solidFill>
                  <a:srgbClr val="64748B"/>
                </a:solidFill>
              </a:rPr>
              <a:t>La IA aporta razonamiento flexible en lenguaje natural y UiPath/n8n garantizan la ejecución determinística y sin errores.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Resolución Autónoma del 74,2%: </a:t>
            </a:r>
            <a:r>
              <a:rPr b="0">
                <a:solidFill>
                  <a:srgbClr val="64748B"/>
                </a:solidFill>
              </a:rPr>
              <a:t>Casi 3 de cada 4 interacciones son atendidas y cerradas sin intervención del personal.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Humanización de la Atención: </a:t>
            </a:r>
            <a:r>
              <a:rPr b="0">
                <a:solidFill>
                  <a:srgbClr val="64748B"/>
                </a:solidFill>
              </a:rPr>
              <a:t>Liberar 6,2 h/día en recepción permite a las recepcionistas concentrarse en la acogida presencial y seguimiento de planes de salud.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Cumplimiento Integral EBIS: </a:t>
            </a:r>
            <a:r>
              <a:rPr b="0">
                <a:solidFill>
                  <a:srgbClr val="64748B"/>
                </a:solidFill>
              </a:rPr>
              <a:t>Solución compleja, robusta, con manejo integral de excepciones y retorno financiero irrefutable.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6634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🚀 Líneas Futuras de Evolución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Voicebots Telefónicos con OpenAI Realtime: </a:t>
            </a:r>
            <a:r>
              <a:rPr b="0">
                <a:solidFill>
                  <a:srgbClr val="64748B"/>
                </a:solidFill>
              </a:rPr>
              <a:t>Integración de centralita VoIP para que pacientes de la tercera edad agenden turnos mediante llamadas de voz fluidas (&lt; 600 ms).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Model Context Protocol (MCP): </a:t>
            </a:r>
            <a:r>
              <a:rPr b="0">
                <a:solidFill>
                  <a:srgbClr val="64748B"/>
                </a:solidFill>
              </a:rPr>
              <a:t>Estandarización de herramientas entre modelos (Claude Sonnet 4.6, GPT-4o, Gemini Pro) desacoplada de la capa de orquestación.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Visión Artificial para Seguros (IDP): </a:t>
            </a:r>
            <a:r>
              <a:rPr b="0">
                <a:solidFill>
                  <a:srgbClr val="64748B"/>
                </a:solidFill>
              </a:rPr>
              <a:t>Procesamiento multimodal de volantes de seguros y radiografías subidas por el paciente en el chat.</a:t>
            </a:r>
          </a:p>
          <a:p>
            <a:pPr>
              <a:spcBef>
                <a:spcPts val="800"/>
              </a:spcBef>
              <a:defRPr b="1" sz="1100">
                <a:solidFill>
                  <a:srgbClr val="1E293B"/>
                </a:solidFill>
              </a:defRPr>
            </a:pPr>
            <a:r>
              <a:t>• Expansión Multiclínica: </a:t>
            </a:r>
            <a:r>
              <a:rPr b="0">
                <a:solidFill>
                  <a:srgbClr val="64748B"/>
                </a:solidFill>
              </a:rPr>
              <a:t>Arquitectura multi-tenant para cadenas dentales y policonsultorios hospitalarios.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¡Muchas Gracias por su Atención!</a:t>
            </a:r>
          </a:p>
          <a:p>
            <a:pPr algn="ctr">
              <a:spcBef>
                <a:spcPts val="1400"/>
              </a:spcBef>
              <a:defRPr sz="1800">
                <a:solidFill>
                  <a:srgbClr val="0EA5E9"/>
                </a:solidFill>
              </a:defRPr>
            </a:pPr>
            <a:r>
              <a:t>Clínica Dental Neclatrony — Hiperautomatización de Procesos Clínicos con IA &amp; RPA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10B981"/>
                </a:solidFill>
              </a:defRPr>
            </a:pPr>
            <a:r>
              <a:t>Q&amp;A — Turno de Preguntas del Tribunal Evaluador</a:t>
            </a:r>
          </a:p>
          <a:p>
            <a:pPr algn="ctr"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Sabrina Esposito  ·  EBIS Business Techschool  ·  Octubre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