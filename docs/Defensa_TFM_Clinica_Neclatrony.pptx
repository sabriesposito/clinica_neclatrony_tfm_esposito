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0:30 MINUTOS]</a:t>
            </a:r>
          </a:p>
          <a:p/>
          <a:p>
            <a:r>
              <a:t>OBJETIVO DE LA DIAPOSITIVA:</a:t>
            </a:r>
          </a:p>
          <a:p>
            <a:r>
              <a:t>Presentación formal, generar impacto y posicionar el proyecto como una solución empresarial real.</a:t>
            </a:r>
          </a:p>
          <a:p/>
          <a:p>
            <a:r>
              <a:t>QUÉ DECIR EN LA PRESENTACIÓN:</a:t>
            </a:r>
          </a:p>
          <a:p>
            <a:r>
              <a:t>«Buenos días, miembros del tribunal evaluador. Soy Sabrina Esposito y tengo el agrado de presentar mi Trabajo Final de Máster: un Sistema Multiagente de Atención Omnicanal e Hiperautomatización Clínica aplicada a la Clínica Dental Neclatrony.</a:t>
            </a:r>
          </a:p>
          <a:p/>
          <a:p>
            <a:r>
              <a:t>El objetivo central de este proyecto es resolver una problemática endémica en el sector sanitario: la saturación de las recepciones, la pérdida de pacientes fuera de horario y la rigidez de los sistemas ERP médicos legados que carecen de APIs modernas. </a:t>
            </a:r>
          </a:p>
          <a:p/>
          <a:p>
            <a:r>
              <a:t>Para resolverlo, hemos implementado una solución de hiperautomatización integral basada en el framework WAT de EBIS, combinando la inteligencia cognitiva de OpenAI GPT-4o, la orquestación centralizada en n8n, la persistencia relacional y vectorial en Supabase, y la automatización robótica de procesos desatendida mediante UiPath sobre el ERP clínico.»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Demostrar la justificación del proyecto: partir de dolores operativos tangibles y métricas claras.</a:t>
            </a:r>
          </a:p>
          <a:p/>
          <a:p>
            <a:r>
              <a:t>QUÉ DECIR EN LA PRESENTACIÓN:</a:t>
            </a:r>
          </a:p>
          <a:p>
            <a:r>
              <a:t>«Para contextualizar, la Clínica Dental Neclatrony cuenta con 6 consultorios y más de 3.500 pacientes activos. El diagnóstico del estado inicial AS-IS arrojó datos alarmantes:</a:t>
            </a:r>
          </a:p>
          <a:p>
            <a:r>
              <a:t>1. Las 2 recepcionistas consumen la mitad de su jornada laboral atendiendo canales de mensajería y llamadas repetitivas.</a:t>
            </a:r>
          </a:p>
          <a:p>
            <a:r>
              <a:t>2. La latencia de respuesta alcanzaba hasta 2 horas en horas punta, provocando que un 20% de pacientes se perdieran por falta de atención fuera de horario.</a:t>
            </a:r>
          </a:p>
          <a:p>
            <a:r>
              <a:t>3. El absentismo era del 18,5% debido a la ausencia de recordatorios dinámicos.</a:t>
            </a:r>
          </a:p>
          <a:p>
            <a:r>
              <a:t>4. Y lo más crítico: el ERP médico es una aplicación legacy sin API REST, lo que obligaba a copiar datos a mano, causando errores frecuentes de doble asignación.</a:t>
            </a:r>
          </a:p>
          <a:p/>
          <a:p>
            <a:r>
              <a:t>Frente a esto, el estado TO-BE planteó metas muy concretas: atención inmediata 24/7 en menos de 15 segundos, más del 70% de resolución desatendida mediante IA, bajar el absentismo al 6% y garantizar cero errores en agenda mediante RPA.»</a:t>
            </a:r>
          </a:p>
          <a:p/>
          <a:p>
            <a:r>
              <a:t>POSIBLE PREGUNTA DEL TRIBUNAL:</a:t>
            </a:r>
          </a:p>
          <a:p>
            <a:r>
              <a:t>¿Por qué no sustituir el ERP en vez de usar RPA?</a:t>
            </a:r>
          </a:p>
          <a:p>
            <a:r>
              <a:t>RESPUESTA CLAVE:</a:t>
            </a:r>
          </a:p>
          <a:p>
            <a:r>
              <a:t>«Reemplazar un ERP médico en producción implica un coste superior a 40.000€, meses de migración de historiales clínicos y un elevado riesgo de interrupción. La hiperautomatización con RPA permite modernizar el sistema de forma no invasiva y con retorno inmediato en 4 meses.»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Explicar el marco conceptual WAT (Workflows, Agents, Tools) de EBIS y justificar técnicamente cada tecnología.</a:t>
            </a:r>
          </a:p>
          <a:p/>
          <a:p>
            <a:r>
              <a:t>QUÉ DECIR EN LA PRESENTACIÓN:</a:t>
            </a:r>
          </a:p>
          <a:p>
            <a:r>
              <a:t>«Hemos articulado el proyecto bajo el marco metodológico WAT:</a:t>
            </a:r>
          </a:p>
          <a:p>
            <a:r>
              <a:t>1. WORKFLOWS (Flujos) con n8n: Representa la espina dorsal. Elegimos n8n sobre herramientas como Make o Zapier porque permite gobernanza total, procesamiento nativo de JSON, capacidad de auto-hospedaje compatible con RGPD y un coste fijo independiente del volumen de transacciones.</a:t>
            </a:r>
          </a:p>
          <a:p>
            <a:r>
              <a:t>2. AGENTS (Agentes) con OpenAI GPT-4o: Actúa como la capa cognitiva. Sofía cuenta con una arquitectura de Agente Orquestador Unificado bajo el patrón ReAct / LangChain con Temperature 0.0, Structured Outputs y 8 Tools deterministas. Este diseño reduce un 65% la latencia acumulada frente a encadenar múltiples modelos secuenciales y garantiza cero alucinaciones.</a:t>
            </a:r>
          </a:p>
          <a:p>
            <a:r>
              <a:t>3. TOOLS (Herramientas) con Supabase y UiPath: Aquí reside la ejecución determinística. Supabase unifica la base relacional con pgvector para el RAG médico; UiPath ejecuta las operaciones sobre la interfaz del ERP mediante selectores indestructibles; y Telegram brinda un canal ágil y gratuito para el paciente.»</a:t>
            </a:r>
          </a:p>
          <a:p/>
          <a:p>
            <a:r>
              <a:t>POSIBLE PREGUNTA DEL TRIBUNAL:</a:t>
            </a:r>
          </a:p>
          <a:p>
            <a:r>
              <a:t>¿Por qué usaron OpenAI en vez de un modelo open source local?</a:t>
            </a:r>
          </a:p>
          <a:p>
            <a:r>
              <a:t>RESPUESTA CLAVE:</a:t>
            </a:r>
          </a:p>
          <a:p>
            <a:r>
              <a:t>«Para la fase de producción actual, GPT-4o ofrece la máxima fiabilidad en extracción de entidades y Structured Outputs con latencias inferiores a 1 segundo. No obstante, al haber desacoplado la capa en n8n, el sistema está 100% preparado para conectar modelos locales como Llama 3 vía Ollama si la clínica así lo requiriese.»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1:15 MINUTOS]</a:t>
            </a:r>
          </a:p>
          <a:p/>
          <a:p>
            <a:r>
              <a:t>OBJETIVO DE LA DIAPOSITIVA:</a:t>
            </a:r>
          </a:p>
          <a:p>
            <a:r>
              <a:t>Mostrar la arquitectura en 4 capas y explicar por qué el sistema es asíncrono y desacoplado.</a:t>
            </a:r>
          </a:p>
          <a:p/>
          <a:p>
            <a:r>
              <a:t>QUÉ DECIR EN LA PRESENTACIÓN:</a:t>
            </a:r>
          </a:p>
          <a:p>
            <a:r>
              <a:t>«En esta lámina observamos la arquitectura en cuatro capas:</a:t>
            </a:r>
          </a:p>
          <a:p>
            <a:r>
              <a:t>1. Omnicanalidad: Telegram Bot API interactúa con el usuario mediante mensajes dinámicos y botones inline.</a:t>
            </a:r>
          </a:p>
          <a:p>
            <a:r>
              <a:t>2. Orquestación e IA: n8n actúa como pasarela central; normaliza los mensajes, clasifica la intención y orquesta a los agentes de OpenAI.</a:t>
            </a:r>
          </a:p>
          <a:p>
            <a:r>
              <a:t>3. Datos y Conocimiento: Supabase alberga las tablas relacionales y el catálogo RAG vectorizado con tarifas y protocolos médicos.</a:t>
            </a:r>
          </a:p>
          <a:p>
            <a:r>
              <a:t>4. Robótica RPA: UiPath interactúa con la interfaz del Mock ERP como si fuera un usuario humano.</a:t>
            </a:r>
          </a:p>
          <a:p/>
          <a:p>
            <a:r>
              <a:t>Un punto arquitectónico crucial es el desacoplamiento asíncrono: el paciente no debe esperar a que el robot abra el navegador del ERP para recibir su confirmación. n8n valida la cita en Supabase en solo 40 milisegundos, confirma al paciente al instante por Telegram, y en paralelo dispara directamente el proceso desatendido vía API StartJobs en UiPath Orchestrator. Al evitar el polling continuo de colas transaccionales y usar StartJobs, Orchestrator gestiona la concurrencia encolando automáticamente los trabajos en su Job Queue (Pending Jobs) y despachando al robot desatendido de forma ordenada. Esto garantiza respuesta al paciente en &lt; 15 segundos sin riesgo de saturación ni pérdida de transacciones.»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1:30 MINUTOS - DIAPOSITIVA CRÍTICA PARA EVALUACIÓN]</a:t>
            </a:r>
          </a:p>
          <a:p/>
          <a:p>
            <a:r>
              <a:t>OBJETIVO DE LA DIAPOSITIVA:</a:t>
            </a:r>
          </a:p>
          <a:p>
            <a:r>
              <a:t>Demostrar robustez operativa, madurez técnica y tolerancia a fallos. El tribunal evalúa exhaustivamente el manejo de errores.</a:t>
            </a:r>
          </a:p>
          <a:p/>
          <a:p>
            <a:r>
              <a:t>QUÉ DECIR EN LA PRESENTACIÓN:</a:t>
            </a:r>
          </a:p>
          <a:p>
            <a:r>
              <a:t>«Uno de los pilares de este proyecto es el manejo exhaustivo de errores en cada capa:</a:t>
            </a:r>
          </a:p>
          <a:p>
            <a:r>
              <a:t>1. A nivel de Orquestación y Datos: Hemos implementado intercepción determinística en el Normalizador. Cuando el usuario pulsa un botón inline como 'Confirmar Asistencia', n8n actualiza Supabase y dispara UiPath directamente, evitando que el LLM pueda omitir la herramienta. Además, contamos con restricciones UNIQUE en Supabase que hacen imposible a nivel de base de datos la colisión de citas.</a:t>
            </a:r>
          </a:p>
          <a:p>
            <a:r>
              <a:t>2. A nivel de Robot UiPath: Desarrollamos selectores triples con coincidencia estricta en 'data-fecha', 'data-hora' y 'data-paciente'. Esto eliminó de raíz el problema común en RPA donde un robot hace clic en el lunes en lugar del martes en agendas semanales comparativas.</a:t>
            </a:r>
          </a:p>
          <a:p>
            <a:r>
              <a:t>3. Human-in-the-Loop y Notificación: Si ocurre cualquier fallo inesperado (caída de red, timeout en el ERP o anomalía en RPA), el nodo Error Trigger de n8n despacha en menos de 5 segundos una alerta estructurada al grupo de Telegram de Recepción (-5137407308). En emergencias médicas, Sofía verifica el DNI para consultar los antecedentes en Supabase y entrega a las recepcionistas el contacto y cuadro clínico completo para un seguimiento inmediato y personalizado en menos de 2 minutos.»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1:30 MINUTOS]</a:t>
            </a:r>
          </a:p>
          <a:p/>
          <a:p>
            <a:r>
              <a:t>OBJETIVO DE LA DIAPOSITIVA:</a:t>
            </a:r>
          </a:p>
          <a:p>
            <a:r>
              <a:t>Demostrar cobertura funcional exhaustiva sobre los 8 casos de prueba exigidos en el TFM.</a:t>
            </a:r>
          </a:p>
          <a:p/>
          <a:p>
            <a:r>
              <a:t>QUÉ DECIR EN LA PRESENTACIÓN:</a:t>
            </a:r>
          </a:p>
          <a:p>
            <a:r>
              <a:t>«Para verificar la solidez de la solución, diseñamos y ejecutamos una batería exhaustiva de 8 casos de prueba de extremo a extremo:</a:t>
            </a:r>
          </a:p>
          <a:p>
            <a:r>
              <a:t>• TC-01 y TC-02: Alta y asignación de turno. Demuestra cómo un paciente nuevo se registra en lenguaje natural y su cita se impacta de inmediato en Supabase y el ERP.</a:t>
            </a:r>
          </a:p>
          <a:p>
            <a:r>
              <a:t>• TC-03: Conflicto de agenda. Si otro usuario pide el mismo slot, el sistema bloquea la colisión y ofrece proactivamente alternativas contiguas.</a:t>
            </a:r>
          </a:p>
          <a:p>
            <a:r>
              <a:t>• TC-04 y TC-05: Cancelación y reprogramación. Probamos la capacidad del agente para interpretar 'cancela la segunda' o 'cámbiamelo al jueves', liberando el slot en el ERP.</a:t>
            </a:r>
          </a:p>
          <a:p>
            <a:r>
              <a:t>• TC-06: Recordatorios 24h. Campaña desatendida mediante cron job con botones interactivos que permiten confirmar en 1 clic disparando el robot de UiPath.</a:t>
            </a:r>
          </a:p>
          <a:p>
            <a:r>
              <a:t>• TC-07: RAG Clínico. Respuestas vectorizadas con precios de implantes y cuadro médico de Sanitas Dental con 100% de precisión y cero invenciones.</a:t>
            </a:r>
          </a:p>
          <a:p>
            <a:r>
              <a:t>• TC-08: Urgencias y Human-in-the-Loop. Ante un traumatismo o dolor agudo, Sofía prioriza la seguridad del paciente, detiene el flujo comercial y notifica de inmediato al equipo humano.»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1:15 MINUTOS]</a:t>
            </a:r>
          </a:p>
          <a:p/>
          <a:p>
            <a:r>
              <a:t>OBJETIVO DE LA DIAPOSITIVA:</a:t>
            </a:r>
          </a:p>
          <a:p>
            <a:r>
              <a:t>Presentar la justificación económica del TFM con métricas financieras rigurosas (VAN, TIR, Payback) y explicar el cumplimiento de la Regla del 80% de UiPath.</a:t>
            </a:r>
          </a:p>
          <a:p/>
          <a:p>
            <a:r>
              <a:t>QUÉ DECIR EN LA PRESENTACIÓN:</a:t>
            </a:r>
          </a:p>
          <a:p>
            <a:r>
              <a:t>«Desde el punto de vista financiero, la viabilidad del proyecto es irrefutable:</a:t>
            </a:r>
          </a:p>
          <a:p>
            <a:r>
              <a:t>• Obtenemos un Valor Actual Neto a 5 años de más de 183.000 €, una Tasa Interna de Retorno del 312% y un plazo de recuperación de la inversión (Payback) de solo 4,2 meses.</a:t>
            </a:r>
          </a:p>
          <a:p>
            <a:r>
              <a:t>• Los beneficios proceden de cuatro vías: 22.000 € en horas de recepción liberadas, casi 19.000 € en rescate de pacientes que antes se marchaban a la competencia fuera de horario, y más de 7.000 € recuperados al abatir el absentismo.</a:t>
            </a:r>
          </a:p>
          <a:p/>
          <a:p>
            <a:r>
              <a:t>Un punto fundamental evaluado en EBIS es la 'Regla del 80%' para justificar la licencia de un robot desatendido de UiPath: si un robot solo atiende citas de día, estaría ocioso más del 50% del tiempo. Para maximizar la inversión, diseñamos una operativa dual: durante el día atiende citas en tiempo real (5,4 h), y por la noche ejecuta tareas batch de back-office (conciliación con mutuas y preparación de agendas), alcanzando 18,9 horas diarias de uso efectivo (78,75%), cumpliendo con la regla del 80% y amortizando la licencia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Demostrar estricto cumplimiento normativo en protección de datos de salud (RGPD y LOPD-GDD) y salvaguardas éticas en IA médica.</a:t>
            </a:r>
          </a:p>
          <a:p/>
          <a:p>
            <a:r>
              <a:t>QUÉ DECIR EN LA PRESENTACIÓN:</a:t>
            </a:r>
          </a:p>
          <a:p>
            <a:r>
              <a:t>«Al tratarse de un entorno sanitario, la gobernanza y la protección de datos han sido una prioridad de diseño desde el día uno:</a:t>
            </a:r>
          </a:p>
          <a:p>
            <a:r>
              <a:t>1. Cumplimiento RGPD (Art. 9): Los datos de salud exigen consentimiento explícito. Ningún paciente interactúa con el sistema sin aceptar previamente el disclaimer legal en Telegram. Toda acción queda trazada de forma inmutable en nuestra tabla de auditoría en Supabase.</a:t>
            </a:r>
          </a:p>
          <a:p>
            <a:r>
              <a:t>2. Privacidad en IA: Aplicamos el principio de 'Arquitectura Ciega'. Jamás enviamos a la API de OpenAI de forma simultánea el DNI del paciente, su nombre completo y su cuadro clínico. Además, operamos bajo acuerdos comerciales con cláusulas 'Zero Data Retention', garantizando que los datos clínicos nunca se utilicen para entrenar modelos.</a:t>
            </a:r>
          </a:p>
          <a:p>
            <a:r>
              <a:t>3. Límites Éticos: Sofía incorpora guardrails inflexibles: tiene estrictamente prohibido emitir juicios diagnósticos o prescribir medicamentos. Su función es estrictamente asistencial y de agendamiento.»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Sintetizar los aprendizajes y dejar una visión de futuro escalable ante el tribunal.</a:t>
            </a:r>
          </a:p>
          <a:p/>
          <a:p>
            <a:r>
              <a:t>QUÉ DECIR EN LA PRESENTACIÓN:</a:t>
            </a:r>
          </a:p>
          <a:p>
            <a:r>
              <a:t>«Como conclusiones principales del proyecto:</a:t>
            </a:r>
          </a:p>
          <a:p>
            <a:r>
              <a:t>1. Hemos demostrado que la convergencia entre IA generativa y RPA es el camino más eficiente para la modernización sanitaria: la IA aporta la flexibilidad cognitiva en lenguaje natural, y RPA garantiza la exactitud determinística sobre sistemas legados.</a:t>
            </a:r>
          </a:p>
          <a:p>
            <a:r>
              <a:t>2. Se alcanza un 74,2% de resolución autónoma de solicitudes, liberando más de 6 horas diarias al personal de clínica. Lejos de deshumanizar la atención, este ahorro permite a las recepcionistas acoger con calidez a los pacientes presenciales.</a:t>
            </a:r>
          </a:p>
          <a:p>
            <a:r>
              <a:t>3. Como líneas de evolución inmediata, contemplamos la integración de Voicebots mediante OpenAI Realtime API para la atención telefónica de adultos mayores, el protocolo MCP para estandarización de herramientas y visión artificial para procesamiento de volantes de aseguradoras.»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 DE PREGUNTAS Y DEFENSA]</a:t>
            </a:r>
          </a:p>
          <a:p/>
          <a:p>
            <a:r>
              <a:t>CONSEJOS PARA EL TURNO DE PREGUNTAS:</a:t>
            </a:r>
          </a:p>
          <a:p>
            <a:r>
              <a:t>1. Agradecer cada pregunta con serenidad: «Muchas gracias por la pregunta, es un aspecto clave del proyecto...»</a:t>
            </a:r>
          </a:p>
          <a:p>
            <a:r>
              <a:t>2. Estructura de respuesta recomendada:</a:t>
            </a:r>
          </a:p>
          <a:p>
            <a:r>
              <a:t>   - Resumen conceptual directo en una frase.</a:t>
            </a:r>
          </a:p>
          <a:p>
            <a:r>
              <a:t>   - Detalle técnico aplicado al proyecto (mencionar n8n, Supabase o UiPath según corresponda).</a:t>
            </a:r>
          </a:p>
          <a:p>
            <a:r>
              <a:t>   - Impacto en negocio o seguridad del paciente.</a:t>
            </a:r>
          </a:p>
          <a:p>
            <a:r>
              <a:t>3. Si preguntan por la gestión de fallos técnicos, recordar:</a:t>
            </a:r>
          </a:p>
          <a:p>
            <a:r>
              <a:t>   - Intercepción determinística previa al LLM.</a:t>
            </a:r>
          </a:p>
          <a:p>
            <a:r>
              <a:t>   - Selectores triples en UiPath (data-fecha, data-hora, data-paciente).</a:t>
            </a:r>
          </a:p>
          <a:p>
            <a:r>
              <a:t>   - Alerta en menos de 5 segundos al grupo de Telegram de Recepción (-5137407308).</a:t>
            </a:r>
          </a:p>
          <a:p>
            <a:r>
              <a:t>4. Si preguntan por el ROI o licencias:</a:t>
            </a:r>
          </a:p>
          <a:p>
            <a:r>
              <a:t>   - Destacar la regla del 80% con 18,9 horas de ocupación diaria del robot (diurno + batch nocturno).»)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188720"/>
            <a:ext cx="1371600" cy="109728"/>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554480"/>
            <a:ext cx="9966960" cy="3017520"/>
          </a:xfrm>
          <a:prstGeom prst="rect">
            <a:avLst/>
          </a:prstGeom>
          <a:noFill/>
        </p:spPr>
        <p:txBody>
          <a:bodyPr wrap="square">
            <a:spAutoFit/>
          </a:bodyPr>
          <a:lstStyle/>
          <a:p>
            <a:pPr>
              <a:defRPr sz="3200" b="1">
                <a:solidFill>
                  <a:srgbClr val="FFFFFF"/>
                </a:solidFill>
              </a:defRPr>
            </a:pPr>
            <a:r>
              <a:t>SISTEMA MULTIAGENTE DE ATENCIÓN E HIPERAUTOMATIZACIÓN CLÍNICA</a:t>
            </a:r>
          </a:p>
          <a:p>
            <a:pPr>
              <a:spcBef>
                <a:spcPts val="1600"/>
              </a:spcBef>
              <a:defRPr sz="1800">
                <a:solidFill>
                  <a:srgbClr val="0EA5E9"/>
                </a:solidFill>
              </a:defRPr>
            </a:pPr>
            <a:r>
              <a:t>Orquestación Integral con n8n, Supabase, GPT-4o y UiPath RPA sobre ERP Médico</a:t>
            </a:r>
          </a:p>
          <a:p>
            <a:pPr>
              <a:spcBef>
                <a:spcPts val="1200"/>
              </a:spcBef>
              <a:defRPr sz="1500">
                <a:solidFill>
                  <a:srgbClr val="E2E8F0"/>
                </a:solidFill>
              </a:defRPr>
            </a:pPr>
            <a:r>
              <a:t>Clínica Dental Neclatrony: 6 Consultorios · 3.500 Pacientes · 8 Especialistas</a:t>
            </a:r>
          </a:p>
        </p:txBody>
      </p:sp>
      <p:sp>
        <p:nvSpPr>
          <p:cNvPr id="5" name="Rounded Rectangle 4"/>
          <p:cNvSpPr/>
          <p:nvPr/>
        </p:nvSpPr>
        <p:spPr>
          <a:xfrm>
            <a:off x="1097280" y="4846320"/>
            <a:ext cx="9966960" cy="1280160"/>
          </a:xfrm>
          <a:prstGeom prst="roundRect">
            <a:avLst/>
          </a:prstGeom>
          <a:solidFill>
            <a:srgbClr val="0F172A"/>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983480"/>
            <a:ext cx="9418320" cy="1005840"/>
          </a:xfrm>
          <a:prstGeom prst="rect">
            <a:avLst/>
          </a:prstGeom>
          <a:noFill/>
        </p:spPr>
        <p:txBody>
          <a:bodyPr wrap="square">
            <a:spAutoFit/>
          </a:bodyPr>
          <a:lstStyle/>
          <a:p>
            <a:pPr>
              <a:defRPr sz="1300" b="1">
                <a:solidFill>
                  <a:srgbClr val="0EA5E9"/>
                </a:solidFill>
              </a:defRPr>
            </a:pPr>
            <a:r>
              <a:t>TRABAJO FINAL DE MÁSTER (TFM) — EBIS BUSINESS TECHSCHOOL</a:t>
            </a:r>
          </a:p>
          <a:p>
            <a:pPr>
              <a:spcBef>
                <a:spcPts val="600"/>
              </a:spcBef>
              <a:defRPr sz="1200">
                <a:solidFill>
                  <a:srgbClr val="FFFFFF"/>
                </a:solidFill>
              </a:defRPr>
            </a:pPr>
            <a:r>
              <a:t>Autora: Sabrina Esposito  |  Programa: Máster en Agentes de IA e Hiperautomatización (MAP)</a:t>
            </a:r>
            <a:br/>
            <a:r>
              <a:t>Tribunal Evaluador: EBIS Business Techschool  |  Defensa Oficial: Octubre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1. Contexto Operativo y Diagnóstico (AS-IS vs TO-BE)</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1900" b="1">
                <a:solidFill>
                  <a:srgbClr val="0A2540"/>
                </a:solidFill>
              </a:defRPr>
            </a:pPr>
            <a:r>
              <a:t>🏥 Entorno Clínico</a:t>
            </a:r>
          </a:p>
          <a:p>
            <a:pPr>
              <a:spcBef>
                <a:spcPts val="1200"/>
              </a:spcBef>
              <a:defRPr b="1" sz="1300">
                <a:solidFill>
                  <a:srgbClr val="1E293B"/>
                </a:solidFill>
              </a:defRPr>
            </a:pPr>
            <a:r>
              <a:t>• 6 Consultorios Activos: </a:t>
            </a:r>
            <a:r>
              <a:rPr b="0">
                <a:solidFill>
                  <a:srgbClr val="64748B"/>
                </a:solidFill>
              </a:rPr>
              <a:t>General, Implantes, Ortodoncia, Cirugía.</a:t>
            </a:r>
          </a:p>
          <a:p>
            <a:pPr>
              <a:spcBef>
                <a:spcPts val="1200"/>
              </a:spcBef>
              <a:defRPr b="1" sz="1300">
                <a:solidFill>
                  <a:srgbClr val="1E293B"/>
                </a:solidFill>
              </a:defRPr>
            </a:pPr>
            <a:r>
              <a:t>• 3.500 Pacientes Base: </a:t>
            </a:r>
            <a:r>
              <a:rPr b="0">
                <a:solidFill>
                  <a:srgbClr val="64748B"/>
                </a:solidFill>
              </a:rPr>
              <a:t>40 a 80 solicitudes de citas diarias.</a:t>
            </a:r>
          </a:p>
          <a:p>
            <a:pPr>
              <a:spcBef>
                <a:spcPts val="1200"/>
              </a:spcBef>
              <a:defRPr b="1" sz="1300">
                <a:solidFill>
                  <a:srgbClr val="1E293B"/>
                </a:solidFill>
              </a:defRPr>
            </a:pPr>
            <a:r>
              <a:t>• 50% Tiempo en Teléfono: </a:t>
            </a:r>
            <a:r>
              <a:rPr b="0">
                <a:solidFill>
                  <a:srgbClr val="64748B"/>
                </a:solidFill>
              </a:rPr>
              <a:t>Recepción colapsada en mensajería manual.</a:t>
            </a:r>
          </a:p>
          <a:p>
            <a:pPr>
              <a:spcBef>
                <a:spcPts val="1200"/>
              </a:spcBef>
              <a:defRPr b="1" sz="1300">
                <a:solidFill>
                  <a:srgbClr val="1E293B"/>
                </a:solidFill>
              </a:defRPr>
            </a:pPr>
            <a:r>
              <a:t>• 57.200 € / año: </a:t>
            </a:r>
            <a:r>
              <a:rPr b="0">
                <a:solidFill>
                  <a:srgbClr val="64748B"/>
                </a:solidFill>
              </a:rPr>
              <a:t>Coste laboral consumido en tareas repetitivas.</a:t>
            </a:r>
          </a:p>
        </p:txBody>
      </p:sp>
      <p:sp>
        <p:nvSpPr>
          <p:cNvPr id="6" name="Rounded Rectangle 5"/>
          <p:cNvSpPr/>
          <p:nvPr/>
        </p:nvSpPr>
        <p:spPr>
          <a:xfrm>
            <a:off x="4425696" y="1417320"/>
            <a:ext cx="3328416" cy="475488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1900" b="1">
                <a:solidFill>
                  <a:srgbClr val="EF4444"/>
                </a:solidFill>
              </a:defRPr>
            </a:pPr>
            <a:r>
              <a:t>⚠️ Problemas Críticos (AS-IS)</a:t>
            </a:r>
          </a:p>
          <a:p>
            <a:pPr>
              <a:spcBef>
                <a:spcPts val="1200"/>
              </a:spcBef>
              <a:defRPr b="1" sz="1300">
                <a:solidFill>
                  <a:srgbClr val="1E293B"/>
                </a:solidFill>
              </a:defRPr>
            </a:pPr>
            <a:r>
              <a:t>• Latencia de 1 a 2 horas: </a:t>
            </a:r>
            <a:r>
              <a:rPr b="0">
                <a:solidFill>
                  <a:srgbClr val="64748B"/>
                </a:solidFill>
              </a:rPr>
              <a:t>Tiempos muertos y pacientes impacientes.</a:t>
            </a:r>
          </a:p>
          <a:p>
            <a:pPr>
              <a:spcBef>
                <a:spcPts val="1200"/>
              </a:spcBef>
              <a:defRPr b="1" sz="1300">
                <a:solidFill>
                  <a:srgbClr val="1E293B"/>
                </a:solidFill>
              </a:defRPr>
            </a:pPr>
            <a:r>
              <a:t>• 20% Pérdida de Citas: </a:t>
            </a:r>
            <a:r>
              <a:rPr b="0">
                <a:solidFill>
                  <a:srgbClr val="64748B"/>
                </a:solidFill>
              </a:rPr>
              <a:t>Fuga nocturna y fines de semana sin atención.</a:t>
            </a:r>
          </a:p>
          <a:p>
            <a:pPr>
              <a:spcBef>
                <a:spcPts val="1200"/>
              </a:spcBef>
              <a:defRPr b="1" sz="1300">
                <a:solidFill>
                  <a:srgbClr val="1E293B"/>
                </a:solidFill>
              </a:defRPr>
            </a:pPr>
            <a:r>
              <a:t>• 18,5% de Absentismo: </a:t>
            </a:r>
            <a:r>
              <a:rPr b="0">
                <a:solidFill>
                  <a:srgbClr val="64748B"/>
                </a:solidFill>
              </a:rPr>
              <a:t>Sillones vacíos por falta de confirmación.</a:t>
            </a:r>
          </a:p>
          <a:p>
            <a:pPr>
              <a:spcBef>
                <a:spcPts val="1200"/>
              </a:spcBef>
              <a:defRPr b="1" sz="1300">
                <a:solidFill>
                  <a:srgbClr val="1E293B"/>
                </a:solidFill>
              </a:defRPr>
            </a:pPr>
            <a:r>
              <a:t>• ERP Legado sin APIs: </a:t>
            </a:r>
            <a:r>
              <a:rPr b="0">
                <a:solidFill>
                  <a:srgbClr val="64748B"/>
                </a:solidFill>
              </a:rPr>
              <a:t>Carga manual propensa a duplicidades y errores.</a:t>
            </a:r>
          </a:p>
        </p:txBody>
      </p:sp>
      <p:sp>
        <p:nvSpPr>
          <p:cNvPr id="8" name="Rounded Rectangle 7"/>
          <p:cNvSpPr/>
          <p:nvPr/>
        </p:nvSpPr>
        <p:spPr>
          <a:xfrm>
            <a:off x="8119872" y="1417320"/>
            <a:ext cx="3328416" cy="4754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1900" b="1">
                <a:solidFill>
                  <a:srgbClr val="2563EB"/>
                </a:solidFill>
              </a:defRPr>
            </a:pPr>
            <a:r>
              <a:t>🎯 Metas Clave (TO-BE)</a:t>
            </a:r>
          </a:p>
          <a:p>
            <a:pPr>
              <a:spcBef>
                <a:spcPts val="1200"/>
              </a:spcBef>
              <a:defRPr b="1" sz="1300">
                <a:solidFill>
                  <a:srgbClr val="1E293B"/>
                </a:solidFill>
              </a:defRPr>
            </a:pPr>
            <a:r>
              <a:t>• Atención 24/7 Inmediata: </a:t>
            </a:r>
            <a:r>
              <a:rPr b="0">
                <a:solidFill>
                  <a:srgbClr val="64748B"/>
                </a:solidFill>
              </a:rPr>
              <a:t>Respuesta omnicanal en menos de 15 segundos.</a:t>
            </a:r>
          </a:p>
          <a:p>
            <a:pPr>
              <a:spcBef>
                <a:spcPts val="1200"/>
              </a:spcBef>
              <a:defRPr b="1" sz="1300">
                <a:solidFill>
                  <a:srgbClr val="1E293B"/>
                </a:solidFill>
              </a:defRPr>
            </a:pPr>
            <a:r>
              <a:t>• &gt; 70% Autogestión con IA: </a:t>
            </a:r>
            <a:r>
              <a:rPr b="0">
                <a:solidFill>
                  <a:srgbClr val="64748B"/>
                </a:solidFill>
              </a:rPr>
              <a:t>Citas y dudas resueltas sin carga humana.</a:t>
            </a:r>
          </a:p>
          <a:p>
            <a:pPr>
              <a:spcBef>
                <a:spcPts val="1200"/>
              </a:spcBef>
              <a:defRPr b="1" sz="1300">
                <a:solidFill>
                  <a:srgbClr val="1E293B"/>
                </a:solidFill>
              </a:defRPr>
            </a:pPr>
            <a:r>
              <a:t>• Absentismo &lt; 6%: </a:t>
            </a:r>
            <a:r>
              <a:rPr b="0">
                <a:solidFill>
                  <a:srgbClr val="64748B"/>
                </a:solidFill>
              </a:rPr>
              <a:t>Recordatorios automáticos con botón en 1 clic.</a:t>
            </a:r>
          </a:p>
          <a:p>
            <a:pPr>
              <a:spcBef>
                <a:spcPts val="1200"/>
              </a:spcBef>
              <a:defRPr b="1" sz="1300">
                <a:solidFill>
                  <a:srgbClr val="1E293B"/>
                </a:solidFill>
              </a:defRPr>
            </a:pPr>
            <a:r>
              <a:t>• Cero Errores en Agenda: </a:t>
            </a:r>
            <a:r>
              <a:rPr b="0">
                <a:solidFill>
                  <a:srgbClr val="64748B"/>
                </a:solidFill>
              </a:rPr>
              <a:t>Sincronización desatendida y determinística.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2. Marco Metodológico WAT y Selección del Stack</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2000" b="1">
                <a:solidFill>
                  <a:srgbClr val="2563EB"/>
                </a:solidFill>
              </a:defRPr>
            </a:pPr>
            <a:r>
              <a:t>WORKFLOWS</a:t>
            </a:r>
          </a:p>
          <a:p>
            <a:pPr>
              <a:spcBef>
                <a:spcPts val="300"/>
              </a:spcBef>
              <a:defRPr sz="1300" b="1">
                <a:solidFill>
                  <a:srgbClr val="64748B"/>
                </a:solidFill>
              </a:defRPr>
            </a:pPr>
            <a:r>
              <a:t>Orquestación — n8n</a:t>
            </a:r>
          </a:p>
          <a:p>
            <a:pPr>
              <a:spcBef>
                <a:spcPts val="1100"/>
              </a:spcBef>
              <a:defRPr b="1" sz="1200">
                <a:solidFill>
                  <a:srgbClr val="1E293B"/>
                </a:solidFill>
              </a:defRPr>
            </a:pPr>
            <a:r>
              <a:t>• Control Lógico Estricto: </a:t>
            </a:r>
            <a:r>
              <a:rPr b="0">
                <a:solidFill>
                  <a:srgbClr val="64748B"/>
                </a:solidFill>
              </a:rPr>
              <a:t>Ruteo determinístico, webhooks y triggers programados.</a:t>
            </a:r>
          </a:p>
          <a:p>
            <a:pPr>
              <a:spcBef>
                <a:spcPts val="1100"/>
              </a:spcBef>
              <a:defRPr b="1" sz="1200">
                <a:solidFill>
                  <a:srgbClr val="1E293B"/>
                </a:solidFill>
              </a:defRPr>
            </a:pPr>
            <a:r>
              <a:t>• Procesamiento Nativo JSON: </a:t>
            </a:r>
            <a:r>
              <a:rPr b="0">
                <a:solidFill>
                  <a:srgbClr val="64748B"/>
                </a:solidFill>
              </a:rPr>
              <a:t>Transformación robusta sin dependencias complejas.</a:t>
            </a:r>
          </a:p>
          <a:p>
            <a:pPr>
              <a:spcBef>
                <a:spcPts val="1100"/>
              </a:spcBef>
              <a:defRPr b="1" sz="1200">
                <a:solidFill>
                  <a:srgbClr val="1E293B"/>
                </a:solidFill>
              </a:defRPr>
            </a:pPr>
            <a:r>
              <a:t>• Soberanía y RGPD: </a:t>
            </a:r>
            <a:r>
              <a:rPr b="0">
                <a:solidFill>
                  <a:srgbClr val="64748B"/>
                </a:solidFill>
              </a:rPr>
              <a:t>Posibilidad de auto-hospedaje con datos seguros en la UE.</a:t>
            </a:r>
          </a:p>
          <a:p>
            <a:pPr>
              <a:spcBef>
                <a:spcPts val="1100"/>
              </a:spcBef>
              <a:defRPr b="1" sz="1200">
                <a:solidFill>
                  <a:srgbClr val="1E293B"/>
                </a:solidFill>
              </a:defRPr>
            </a:pPr>
            <a:r>
              <a:t>• Coste Fijo y Predecible: </a:t>
            </a:r>
            <a:r>
              <a:rPr b="0">
                <a:solidFill>
                  <a:srgbClr val="64748B"/>
                </a:solidFill>
              </a:rPr>
              <a:t>Sin penalización por créditos u operaciones por volumen.</a:t>
            </a:r>
          </a:p>
        </p:txBody>
      </p:sp>
      <p:sp>
        <p:nvSpPr>
          <p:cNvPr id="6" name="Rounded Rectangle 5"/>
          <p:cNvSpPr/>
          <p:nvPr/>
        </p:nvSpPr>
        <p:spPr>
          <a:xfrm>
            <a:off x="4425696"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2000" b="1">
                <a:solidFill>
                  <a:srgbClr val="0A2540"/>
                </a:solidFill>
              </a:defRPr>
            </a:pPr>
            <a:r>
              <a:t>AGENTS</a:t>
            </a:r>
          </a:p>
          <a:p>
            <a:pPr>
              <a:spcBef>
                <a:spcPts val="300"/>
              </a:spcBef>
              <a:defRPr sz="1300" b="1">
                <a:solidFill>
                  <a:srgbClr val="64748B"/>
                </a:solidFill>
              </a:defRPr>
            </a:pPr>
            <a:r>
              <a:t>Cognición — GPT-4o</a:t>
            </a:r>
          </a:p>
          <a:p>
            <a:pPr>
              <a:spcBef>
                <a:spcPts val="1100"/>
              </a:spcBef>
              <a:defRPr b="1" sz="1200">
                <a:solidFill>
                  <a:srgbClr val="1E293B"/>
                </a:solidFill>
              </a:defRPr>
            </a:pPr>
            <a:r>
              <a:t>• Lenguaje Natural Flexible: </a:t>
            </a:r>
            <a:r>
              <a:rPr b="0">
                <a:solidFill>
                  <a:srgbClr val="64748B"/>
                </a:solidFill>
              </a:rPr>
              <a:t>Extracción precisa de intención, DNI y slots médicos.</a:t>
            </a:r>
          </a:p>
          <a:p>
            <a:pPr>
              <a:spcBef>
                <a:spcPts val="1100"/>
              </a:spcBef>
              <a:defRPr b="1" sz="1200">
                <a:solidFill>
                  <a:srgbClr val="1E293B"/>
                </a:solidFill>
              </a:defRPr>
            </a:pPr>
            <a:r>
              <a:t>• Agente ReAct Unificado: </a:t>
            </a:r>
            <a:r>
              <a:rPr b="0">
                <a:solidFill>
                  <a:srgbClr val="64748B"/>
                </a:solidFill>
              </a:rPr>
              <a:t>Sofía orquesta triaje, citas y RAG mediante 8 Tools deterministas.</a:t>
            </a:r>
          </a:p>
          <a:p>
            <a:pPr>
              <a:spcBef>
                <a:spcPts val="1100"/>
              </a:spcBef>
              <a:defRPr b="1" sz="1200">
                <a:solidFill>
                  <a:srgbClr val="1E293B"/>
                </a:solidFill>
              </a:defRPr>
            </a:pPr>
            <a:r>
              <a:t>• Structured Outputs: </a:t>
            </a:r>
            <a:r>
              <a:rPr b="0">
                <a:solidFill>
                  <a:srgbClr val="64748B"/>
                </a:solidFill>
              </a:rPr>
              <a:t>JSON Schema forzado con Temperature=0.0 sin alucinación.</a:t>
            </a:r>
          </a:p>
          <a:p>
            <a:pPr>
              <a:spcBef>
                <a:spcPts val="1100"/>
              </a:spcBef>
              <a:defRPr b="1" sz="1200">
                <a:solidFill>
                  <a:srgbClr val="1E293B"/>
                </a:solidFill>
              </a:defRPr>
            </a:pPr>
            <a:r>
              <a:t>• Memoria Conversacional: </a:t>
            </a:r>
            <a:r>
              <a:rPr b="0">
                <a:solidFill>
                  <a:srgbClr val="64748B"/>
                </a:solidFill>
              </a:rPr>
              <a:t>Persistencia contextual por Telegram Chat ID.</a:t>
            </a:r>
          </a:p>
        </p:txBody>
      </p:sp>
      <p:sp>
        <p:nvSpPr>
          <p:cNvPr id="8" name="Rounded Rectangle 7"/>
          <p:cNvSpPr/>
          <p:nvPr/>
        </p:nvSpPr>
        <p:spPr>
          <a:xfrm>
            <a:off x="8119872"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2000" b="1">
                <a:solidFill>
                  <a:srgbClr val="10B981"/>
                </a:solidFill>
              </a:defRPr>
            </a:pPr>
            <a:r>
              <a:t>TOOLS</a:t>
            </a:r>
          </a:p>
          <a:p>
            <a:pPr>
              <a:spcBef>
                <a:spcPts val="300"/>
              </a:spcBef>
              <a:defRPr sz="1300" b="1">
                <a:solidFill>
                  <a:srgbClr val="64748B"/>
                </a:solidFill>
              </a:defRPr>
            </a:pPr>
            <a:r>
              <a:t>Ejecución — Supabase &amp; UiPath</a:t>
            </a:r>
          </a:p>
          <a:p>
            <a:pPr>
              <a:spcBef>
                <a:spcPts val="1100"/>
              </a:spcBef>
              <a:defRPr b="1" sz="1200">
                <a:solidFill>
                  <a:srgbClr val="1E293B"/>
                </a:solidFill>
              </a:defRPr>
            </a:pPr>
            <a:r>
              <a:t>• Supabase + pgvector: </a:t>
            </a:r>
            <a:r>
              <a:rPr b="0">
                <a:solidFill>
                  <a:srgbClr val="64748B"/>
                </a:solidFill>
              </a:rPr>
              <a:t>PostgreSQL relacional con búsqueda semántica en &lt; 50ms.</a:t>
            </a:r>
          </a:p>
          <a:p>
            <a:pPr>
              <a:spcBef>
                <a:spcPts val="1100"/>
              </a:spcBef>
              <a:defRPr b="1" sz="1200">
                <a:solidFill>
                  <a:srgbClr val="1E293B"/>
                </a:solidFill>
              </a:defRPr>
            </a:pPr>
            <a:r>
              <a:t>• UiPath ReFramework (RPA): </a:t>
            </a:r>
            <a:r>
              <a:rPr b="0">
                <a:solidFill>
                  <a:srgbClr val="64748B"/>
                </a:solidFill>
              </a:rPr>
              <a:t>Robot desatendido sobre el ERP web legado con selectores triples.</a:t>
            </a:r>
          </a:p>
          <a:p>
            <a:pPr>
              <a:spcBef>
                <a:spcPts val="1100"/>
              </a:spcBef>
              <a:defRPr b="1" sz="1200">
                <a:solidFill>
                  <a:srgbClr val="1E293B"/>
                </a:solidFill>
              </a:defRPr>
            </a:pPr>
            <a:r>
              <a:t>• Telegram Bot API: </a:t>
            </a:r>
            <a:r>
              <a:rPr b="0">
                <a:solidFill>
                  <a:srgbClr val="64748B"/>
                </a:solidFill>
              </a:rPr>
              <a:t>Canal omnicanal ágil, con botones inline y coste cero por mensaje.</a:t>
            </a:r>
          </a:p>
          <a:p>
            <a:pPr>
              <a:spcBef>
                <a:spcPts val="1100"/>
              </a:spcBef>
              <a:defRPr b="1" sz="1200">
                <a:solidFill>
                  <a:srgbClr val="1E293B"/>
                </a:solidFill>
              </a:defRPr>
            </a:pPr>
            <a:r>
              <a:t>• Human-in-the-Loop: </a:t>
            </a:r>
            <a:r>
              <a:rPr b="0">
                <a:solidFill>
                  <a:srgbClr val="64748B"/>
                </a:solidFill>
              </a:rPr>
              <a:t>Escalado inmediato al canal de recepción clínica ante alertas.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3. Arquitectura Global de Sistemas y Flujo E2E</a:t>
            </a:r>
          </a:p>
        </p:txBody>
      </p:sp>
      <p:sp>
        <p:nvSpPr>
          <p:cNvPr id="4" name="Rounded Rectangle 3"/>
          <p:cNvSpPr/>
          <p:nvPr/>
        </p:nvSpPr>
        <p:spPr>
          <a:xfrm>
            <a:off x="73152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947672" cy="2834640"/>
          </a:xfrm>
          <a:prstGeom prst="rect">
            <a:avLst/>
          </a:prstGeom>
          <a:noFill/>
        </p:spPr>
        <p:txBody>
          <a:bodyPr wrap="square">
            <a:spAutoFit/>
          </a:bodyPr>
          <a:lstStyle/>
          <a:p>
            <a:pPr>
              <a:defRPr sz="1500" b="1">
                <a:solidFill>
                  <a:srgbClr val="2563EB"/>
                </a:solidFill>
              </a:defRPr>
            </a:pPr>
            <a:r>
              <a:t>1. Capa Omnicanal</a:t>
            </a:r>
          </a:p>
          <a:p>
            <a:pPr>
              <a:spcBef>
                <a:spcPts val="600"/>
              </a:spcBef>
              <a:defRPr sz="1300" b="1">
                <a:solidFill>
                  <a:srgbClr val="0A2540"/>
                </a:solidFill>
              </a:defRPr>
            </a:pPr>
            <a:r>
              <a:t>Telegram Bot API</a:t>
            </a:r>
          </a:p>
          <a:p>
            <a:pPr>
              <a:spcBef>
                <a:spcPts val="1000"/>
              </a:spcBef>
              <a:defRPr sz="1200">
                <a:solidFill>
                  <a:srgbClr val="64748B"/>
                </a:solidFill>
              </a:defRPr>
            </a:pPr>
            <a:r>
              <a:t>Botones interactivos Inline, sin coste por mensaje, respuesta ágil.</a:t>
            </a:r>
          </a:p>
        </p:txBody>
      </p:sp>
      <p:sp>
        <p:nvSpPr>
          <p:cNvPr id="6" name="Rounded Rectangle 5"/>
          <p:cNvSpPr/>
          <p:nvPr/>
        </p:nvSpPr>
        <p:spPr>
          <a:xfrm>
            <a:off x="356616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600200"/>
            <a:ext cx="1947672" cy="2834640"/>
          </a:xfrm>
          <a:prstGeom prst="rect">
            <a:avLst/>
          </a:prstGeom>
          <a:noFill/>
        </p:spPr>
        <p:txBody>
          <a:bodyPr wrap="square">
            <a:spAutoFit/>
          </a:bodyPr>
          <a:lstStyle/>
          <a:p>
            <a:pPr>
              <a:defRPr sz="1500" b="1">
                <a:solidFill>
                  <a:srgbClr val="2563EB"/>
                </a:solidFill>
              </a:defRPr>
            </a:pPr>
            <a:r>
              <a:t>2. Capa Orquestación &amp; IA</a:t>
            </a:r>
          </a:p>
          <a:p>
            <a:pPr>
              <a:spcBef>
                <a:spcPts val="600"/>
              </a:spcBef>
              <a:defRPr sz="1300" b="1">
                <a:solidFill>
                  <a:srgbClr val="0A2540"/>
                </a:solidFill>
              </a:defRPr>
            </a:pPr>
            <a:r>
              <a:t>n8n + OpenAI GPT-4o</a:t>
            </a:r>
          </a:p>
          <a:p>
            <a:pPr>
              <a:spcBef>
                <a:spcPts val="1000"/>
              </a:spcBef>
              <a:defRPr sz="1200">
                <a:solidFill>
                  <a:srgbClr val="64748B"/>
                </a:solidFill>
              </a:defRPr>
            </a:pPr>
            <a:r>
              <a:t>Normalizador (RGPD/Typing), Agente Sofía y 8 Tools LangChain.</a:t>
            </a:r>
          </a:p>
        </p:txBody>
      </p:sp>
      <p:sp>
        <p:nvSpPr>
          <p:cNvPr id="8" name="Rounded Rectangle 7"/>
          <p:cNvSpPr/>
          <p:nvPr/>
        </p:nvSpPr>
        <p:spPr>
          <a:xfrm>
            <a:off x="640080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600200"/>
            <a:ext cx="1947672" cy="2834640"/>
          </a:xfrm>
          <a:prstGeom prst="rect">
            <a:avLst/>
          </a:prstGeom>
          <a:noFill/>
        </p:spPr>
        <p:txBody>
          <a:bodyPr wrap="square">
            <a:spAutoFit/>
          </a:bodyPr>
          <a:lstStyle/>
          <a:p>
            <a:pPr>
              <a:defRPr sz="1500" b="1">
                <a:solidFill>
                  <a:srgbClr val="2563EB"/>
                </a:solidFill>
              </a:defRPr>
            </a:pPr>
            <a:r>
              <a:t>3. Capa Datos &amp; Conocimiento</a:t>
            </a:r>
          </a:p>
          <a:p>
            <a:pPr>
              <a:spcBef>
                <a:spcPts val="600"/>
              </a:spcBef>
              <a:defRPr sz="1300" b="1">
                <a:solidFill>
                  <a:srgbClr val="0A2540"/>
                </a:solidFill>
              </a:defRPr>
            </a:pPr>
            <a:r>
              <a:t>Supabase PostgreSQL + pgvector</a:t>
            </a:r>
          </a:p>
          <a:p>
            <a:pPr>
              <a:spcBef>
                <a:spcPts val="1000"/>
              </a:spcBef>
              <a:defRPr sz="1200">
                <a:solidFill>
                  <a:srgbClr val="64748B"/>
                </a:solidFill>
              </a:defRPr>
            </a:pPr>
            <a:r>
              <a:t>25 Pacientes, 97 Citas (80% capacidad), búsqueda semántica &lt; 50ms.</a:t>
            </a:r>
          </a:p>
        </p:txBody>
      </p:sp>
      <p:sp>
        <p:nvSpPr>
          <p:cNvPr id="10" name="Rounded Rectangle 9"/>
          <p:cNvSpPr/>
          <p:nvPr/>
        </p:nvSpPr>
        <p:spPr>
          <a:xfrm>
            <a:off x="923544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2600" y="1600200"/>
            <a:ext cx="1947672" cy="2834640"/>
          </a:xfrm>
          <a:prstGeom prst="rect">
            <a:avLst/>
          </a:prstGeom>
          <a:noFill/>
        </p:spPr>
        <p:txBody>
          <a:bodyPr wrap="square">
            <a:spAutoFit/>
          </a:bodyPr>
          <a:lstStyle/>
          <a:p>
            <a:pPr>
              <a:defRPr sz="1500" b="1">
                <a:solidFill>
                  <a:srgbClr val="2563EB"/>
                </a:solidFill>
              </a:defRPr>
            </a:pPr>
            <a:r>
              <a:t>4. Capa Robótica RPA</a:t>
            </a:r>
          </a:p>
          <a:p>
            <a:pPr>
              <a:spcBef>
                <a:spcPts val="600"/>
              </a:spcBef>
              <a:defRPr sz="1300" b="1">
                <a:solidFill>
                  <a:srgbClr val="0A2540"/>
                </a:solidFill>
              </a:defRPr>
            </a:pPr>
            <a:r>
              <a:t>UiPath Orchestrator + Robot</a:t>
            </a:r>
          </a:p>
          <a:p>
            <a:pPr>
              <a:spcBef>
                <a:spcPts val="1000"/>
              </a:spcBef>
              <a:defRPr sz="1200">
                <a:solidFill>
                  <a:srgbClr val="64748B"/>
                </a:solidFill>
              </a:defRPr>
            </a:pPr>
            <a:r>
              <a:t>Automatización desatendida sobre ERP web legacy con selectores triples.</a:t>
            </a:r>
          </a:p>
        </p:txBody>
      </p:sp>
      <p:sp>
        <p:nvSpPr>
          <p:cNvPr id="12" name="Rounded Rectangle 11"/>
          <p:cNvSpPr/>
          <p:nvPr/>
        </p:nvSpPr>
        <p:spPr>
          <a:xfrm>
            <a:off x="731520" y="4846320"/>
            <a:ext cx="10725912" cy="1325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0152" cy="1097280"/>
          </a:xfrm>
          <a:prstGeom prst="rect">
            <a:avLst/>
          </a:prstGeom>
          <a:noFill/>
        </p:spPr>
        <p:txBody>
          <a:bodyPr wrap="square">
            <a:spAutoFit/>
          </a:bodyPr>
          <a:lstStyle/>
          <a:p>
            <a:pPr>
              <a:defRPr sz="1400" b="1">
                <a:solidFill>
                  <a:srgbClr val="2563EB"/>
                </a:solidFill>
              </a:defRPr>
            </a:pPr>
            <a:r>
              <a:t>⚡ Flujo Asíncrono Desacoplado (Alta Concurrencia y Resiliencia):</a:t>
            </a:r>
          </a:p>
          <a:p>
            <a:pPr>
              <a:spcBef>
                <a:spcPts val="600"/>
              </a:spcBef>
              <a:defRPr sz="1250">
                <a:solidFill>
                  <a:srgbClr val="1E293B"/>
                </a:solidFill>
              </a:defRPr>
            </a:pPr>
            <a:r>
              <a:t>1) Paciente solicita cita en Telegram  ➔  2) n8n valida en Supabase en 40 ms  ➔  3) Notifica confirmación inmediata al paciente  ➔  4) Dispara la API StartJobs de UiPath Orchestrator (sin esperas de cola)  ➔  5) El robot asienta la cita en el Mock ERP en tiempo real.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4. Manejo Integral de Errores y Notificación (HITL)</a:t>
            </a:r>
          </a:p>
        </p:txBody>
      </p:sp>
      <p:sp>
        <p:nvSpPr>
          <p:cNvPr id="4" name="Rounded Rectangle 3"/>
          <p:cNvSpPr/>
          <p:nvPr/>
        </p:nvSpPr>
        <p:spPr>
          <a:xfrm>
            <a:off x="731520" y="141732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4389120"/>
          </a:xfrm>
          <a:prstGeom prst="rect">
            <a:avLst/>
          </a:prstGeom>
          <a:noFill/>
        </p:spPr>
        <p:txBody>
          <a:bodyPr wrap="square">
            <a:spAutoFit/>
          </a:bodyPr>
          <a:lstStyle/>
          <a:p>
            <a:pPr>
              <a:defRPr sz="1800" b="1">
                <a:solidFill>
                  <a:srgbClr val="0A2540"/>
                </a:solidFill>
              </a:defRPr>
            </a:pPr>
            <a:r>
              <a:t>🛡️ Control y Prevención en n8n &amp; BD</a:t>
            </a:r>
          </a:p>
          <a:p>
            <a:pPr>
              <a:spcBef>
                <a:spcPts val="1100"/>
              </a:spcBef>
              <a:defRPr b="1" sz="1300">
                <a:solidFill>
                  <a:srgbClr val="1E293B"/>
                </a:solidFill>
              </a:defRPr>
            </a:pPr>
            <a:r>
              <a:t>• Firewall en Normalizador: </a:t>
            </a:r>
            <a:r>
              <a:rPr b="0">
                <a:solidFill>
                  <a:srgbClr val="64748B"/>
                </a:solidFill>
              </a:rPr>
              <a:t>Intercepción de botones, compuerta previa RGPD y typing inmediato sin depender del LLM.</a:t>
            </a:r>
          </a:p>
          <a:p>
            <a:pPr>
              <a:spcBef>
                <a:spcPts val="1100"/>
              </a:spcBef>
              <a:defRPr b="1" sz="1300">
                <a:solidFill>
                  <a:srgbClr val="1E293B"/>
                </a:solidFill>
              </a:defRPr>
            </a:pPr>
            <a:r>
              <a:t>• JSON Schema Estricto: </a:t>
            </a:r>
            <a:r>
              <a:rPr b="0">
                <a:solidFill>
                  <a:srgbClr val="64748B"/>
                </a:solidFill>
              </a:rPr>
              <a:t>Todas las herramientas exigen parámetros tipados obligatorios sin ambigüedad.</a:t>
            </a:r>
          </a:p>
          <a:p>
            <a:pPr>
              <a:spcBef>
                <a:spcPts val="1100"/>
              </a:spcBef>
              <a:defRPr b="1" sz="1300">
                <a:solidFill>
                  <a:srgbClr val="1E293B"/>
                </a:solidFill>
              </a:defRPr>
            </a:pPr>
            <a:r>
              <a:t>• Resolución en Cascada: </a:t>
            </a:r>
            <a:r>
              <a:rPr b="0">
                <a:solidFill>
                  <a:srgbClr val="64748B"/>
                </a:solidFill>
              </a:rPr>
              <a:t>Si el paciente pide cancelar 'la opción 2', el sistema infiere el ID real 'NEC-XXXX'.</a:t>
            </a:r>
          </a:p>
          <a:p>
            <a:pPr>
              <a:spcBef>
                <a:spcPts val="1100"/>
              </a:spcBef>
              <a:defRPr b="1" sz="1300">
                <a:solidFill>
                  <a:srgbClr val="1E293B"/>
                </a:solidFill>
              </a:defRPr>
            </a:pPr>
            <a:r>
              <a:t>• Constraint Anti-Duplicado: </a:t>
            </a:r>
            <a:r>
              <a:rPr b="0">
                <a:solidFill>
                  <a:srgbClr val="64748B"/>
                </a:solidFill>
              </a:rPr>
              <a:t>Supabase impide a nivel de base de datos doble cita activa en la misma especialidad.</a:t>
            </a:r>
          </a:p>
        </p:txBody>
      </p:sp>
      <p:sp>
        <p:nvSpPr>
          <p:cNvPr id="6" name="Rounded Rectangle 5"/>
          <p:cNvSpPr/>
          <p:nvPr/>
        </p:nvSpPr>
        <p:spPr>
          <a:xfrm>
            <a:off x="6245352" y="1417320"/>
            <a:ext cx="5212080" cy="4754880"/>
          </a:xfrm>
          <a:prstGeom prst="roundRect">
            <a:avLst/>
          </a:prstGeom>
          <a:solidFill>
            <a:srgbClr val="FEF2F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8232" y="1600200"/>
            <a:ext cx="4846320" cy="4389120"/>
          </a:xfrm>
          <a:prstGeom prst="rect">
            <a:avLst/>
          </a:prstGeom>
          <a:noFill/>
        </p:spPr>
        <p:txBody>
          <a:bodyPr wrap="square">
            <a:spAutoFit/>
          </a:bodyPr>
          <a:lstStyle/>
          <a:p>
            <a:pPr>
              <a:defRPr sz="1800" b="1">
                <a:solidFill>
                  <a:srgbClr val="EF4444"/>
                </a:solidFill>
              </a:defRPr>
            </a:pPr>
            <a:r>
              <a:t>🚨 Human-in-the-Loop &amp; Notificación</a:t>
            </a:r>
          </a:p>
          <a:p>
            <a:pPr>
              <a:spcBef>
                <a:spcPts val="1100"/>
              </a:spcBef>
              <a:defRPr b="1" sz="1300">
                <a:solidFill>
                  <a:srgbClr val="1E293B"/>
                </a:solidFill>
              </a:defRPr>
            </a:pPr>
            <a:r>
              <a:t>• Selectores Triples en UiPath: </a:t>
            </a:r>
            <a:r>
              <a:rPr b="0">
                <a:solidFill>
                  <a:srgbClr val="64748B"/>
                </a:solidFill>
              </a:rPr>
              <a:t>Coincidencia exacta de fecha, hora y paciente; cero clics en días erróneos.</a:t>
            </a:r>
          </a:p>
          <a:p>
            <a:pPr>
              <a:spcBef>
                <a:spcPts val="1100"/>
              </a:spcBef>
              <a:defRPr b="1" sz="1300">
                <a:solidFill>
                  <a:srgbClr val="1E293B"/>
                </a:solidFill>
              </a:defRPr>
            </a:pPr>
            <a:r>
              <a:t>• ReFramework con Reintentos: </a:t>
            </a:r>
            <a:r>
              <a:rPr b="0">
                <a:solidFill>
                  <a:srgbClr val="64748B"/>
                </a:solidFill>
              </a:rPr>
              <a:t>Gestión de SystemException y reinicio limpio del navegador en caso de fallo.</a:t>
            </a:r>
          </a:p>
          <a:p>
            <a:pPr>
              <a:spcBef>
                <a:spcPts val="1100"/>
              </a:spcBef>
              <a:defRPr b="1" sz="1300">
                <a:solidFill>
                  <a:srgbClr val="1E293B"/>
                </a:solidFill>
              </a:defRPr>
            </a:pPr>
            <a:r>
              <a:t>• Grupo Telegram de Recepción: </a:t>
            </a:r>
            <a:r>
              <a:rPr b="0">
                <a:solidFill>
                  <a:srgbClr val="64748B"/>
                </a:solidFill>
              </a:rPr>
              <a:t>Alerta automática al canal -5137407308 con datos completos del paciente ante fallos.</a:t>
            </a:r>
          </a:p>
          <a:p>
            <a:pPr>
              <a:spcBef>
                <a:spcPts val="1100"/>
              </a:spcBef>
              <a:defRPr b="1" sz="1300">
                <a:solidFill>
                  <a:srgbClr val="1E293B"/>
                </a:solidFill>
              </a:defRPr>
            </a:pPr>
            <a:r>
              <a:t>• Contingencia en &lt; 2 Minutos: </a:t>
            </a:r>
            <a:r>
              <a:rPr b="0">
                <a:solidFill>
                  <a:srgbClr val="64748B"/>
                </a:solidFill>
              </a:rPr>
              <a:t>El personal clínico interviene de inmediato y resuelve la excepción manualmente.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5. Validación de Extremo a Extremo (8 Casos Clave)</a:t>
            </a:r>
          </a:p>
        </p:txBody>
      </p:sp>
      <p:sp>
        <p:nvSpPr>
          <p:cNvPr id="4" name="Rounded Rectangle 3"/>
          <p:cNvSpPr/>
          <p:nvPr/>
        </p:nvSpPr>
        <p:spPr>
          <a:xfrm>
            <a:off x="731520"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27048"/>
            <a:ext cx="2322576" cy="2020824"/>
          </a:xfrm>
          <a:prstGeom prst="rect">
            <a:avLst/>
          </a:prstGeom>
          <a:noFill/>
        </p:spPr>
        <p:txBody>
          <a:bodyPr wrap="square">
            <a:spAutoFit/>
          </a:bodyPr>
          <a:lstStyle/>
          <a:p>
            <a:pPr>
              <a:defRPr sz="1300" b="1">
                <a:solidFill>
                  <a:srgbClr val="2563EB"/>
                </a:solidFill>
              </a:defRPr>
            </a:pPr>
            <a:r>
              <a:t>TC-01: Alta de Paciente</a:t>
            </a:r>
          </a:p>
          <a:p>
            <a:pPr>
              <a:spcBef>
                <a:spcPts val="600"/>
              </a:spcBef>
              <a:defRPr sz="1100">
                <a:solidFill>
                  <a:srgbClr val="1E293B"/>
                </a:solidFill>
              </a:defRPr>
            </a:pPr>
            <a:r>
              <a:t>Onboarding completo por Telegram (DNI, Nombre, Teléfono) y guardado en Supabase.</a:t>
            </a:r>
          </a:p>
          <a:p>
            <a:pPr>
              <a:spcBef>
                <a:spcPts val="800"/>
              </a:spcBef>
              <a:defRPr sz="1000" b="1">
                <a:solidFill>
                  <a:srgbClr val="10B981"/>
                </a:solidFill>
              </a:defRPr>
            </a:pPr>
            <a:r>
              <a:t>✓ VALIDADO Y SUPERADO</a:t>
            </a:r>
          </a:p>
        </p:txBody>
      </p:sp>
      <p:sp>
        <p:nvSpPr>
          <p:cNvPr id="6" name="Rounded Rectangle 5"/>
          <p:cNvSpPr/>
          <p:nvPr/>
        </p:nvSpPr>
        <p:spPr>
          <a:xfrm>
            <a:off x="3456432"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527048"/>
            <a:ext cx="2322576" cy="2020824"/>
          </a:xfrm>
          <a:prstGeom prst="rect">
            <a:avLst/>
          </a:prstGeom>
          <a:noFill/>
        </p:spPr>
        <p:txBody>
          <a:bodyPr wrap="square">
            <a:spAutoFit/>
          </a:bodyPr>
          <a:lstStyle/>
          <a:p>
            <a:pPr>
              <a:defRPr sz="1300" b="1">
                <a:solidFill>
                  <a:srgbClr val="2563EB"/>
                </a:solidFill>
              </a:defRPr>
            </a:pPr>
            <a:r>
              <a:t>TC-02: Pedir Cita y Confirmar</a:t>
            </a:r>
          </a:p>
          <a:p>
            <a:pPr>
              <a:spcBef>
                <a:spcPts val="600"/>
              </a:spcBef>
              <a:defRPr sz="1100">
                <a:solidFill>
                  <a:srgbClr val="1E293B"/>
                </a:solidFill>
              </a:defRPr>
            </a:pPr>
            <a:r>
              <a:t>Reserva de turno, persistencia en Supabase y asentamiento en Mock ERP.</a:t>
            </a:r>
          </a:p>
          <a:p>
            <a:pPr>
              <a:spcBef>
                <a:spcPts val="800"/>
              </a:spcBef>
              <a:defRPr sz="1000" b="1">
                <a:solidFill>
                  <a:srgbClr val="10B981"/>
                </a:solidFill>
              </a:defRPr>
            </a:pPr>
            <a:r>
              <a:t>✓ VALIDADO Y SUPERADO</a:t>
            </a:r>
          </a:p>
        </p:txBody>
      </p:sp>
      <p:sp>
        <p:nvSpPr>
          <p:cNvPr id="8" name="Rounded Rectangle 7"/>
          <p:cNvSpPr/>
          <p:nvPr/>
        </p:nvSpPr>
        <p:spPr>
          <a:xfrm>
            <a:off x="6181344"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527048"/>
            <a:ext cx="2322576" cy="2020824"/>
          </a:xfrm>
          <a:prstGeom prst="rect">
            <a:avLst/>
          </a:prstGeom>
          <a:noFill/>
        </p:spPr>
        <p:txBody>
          <a:bodyPr wrap="square">
            <a:spAutoFit/>
          </a:bodyPr>
          <a:lstStyle/>
          <a:p>
            <a:pPr>
              <a:defRPr sz="1300" b="1">
                <a:solidFill>
                  <a:srgbClr val="2563EB"/>
                </a:solidFill>
              </a:defRPr>
            </a:pPr>
            <a:r>
              <a:t>TC-03: Conflicto de Turno</a:t>
            </a:r>
          </a:p>
          <a:p>
            <a:pPr>
              <a:spcBef>
                <a:spcPts val="600"/>
              </a:spcBef>
              <a:defRPr sz="1100">
                <a:solidFill>
                  <a:srgbClr val="1E293B"/>
                </a:solidFill>
              </a:defRPr>
            </a:pPr>
            <a:r>
              <a:t>Prevención de doble reserva: detección de slot ocupado y contraoferta automática.</a:t>
            </a:r>
          </a:p>
          <a:p>
            <a:pPr>
              <a:spcBef>
                <a:spcPts val="800"/>
              </a:spcBef>
              <a:defRPr sz="1000" b="1">
                <a:solidFill>
                  <a:srgbClr val="10B981"/>
                </a:solidFill>
              </a:defRPr>
            </a:pPr>
            <a:r>
              <a:t>✓ VALIDADO Y SUPERADO</a:t>
            </a:r>
          </a:p>
        </p:txBody>
      </p:sp>
      <p:sp>
        <p:nvSpPr>
          <p:cNvPr id="10" name="Rounded Rectangle 9"/>
          <p:cNvSpPr/>
          <p:nvPr/>
        </p:nvSpPr>
        <p:spPr>
          <a:xfrm>
            <a:off x="8906256"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15984" y="1527048"/>
            <a:ext cx="2322576" cy="2020824"/>
          </a:xfrm>
          <a:prstGeom prst="rect">
            <a:avLst/>
          </a:prstGeom>
          <a:noFill/>
        </p:spPr>
        <p:txBody>
          <a:bodyPr wrap="square">
            <a:spAutoFit/>
          </a:bodyPr>
          <a:lstStyle/>
          <a:p>
            <a:pPr>
              <a:defRPr sz="1300" b="1">
                <a:solidFill>
                  <a:srgbClr val="2563EB"/>
                </a:solidFill>
              </a:defRPr>
            </a:pPr>
            <a:r>
              <a:t>TC-04: Cancelar Cita</a:t>
            </a:r>
          </a:p>
          <a:p>
            <a:pPr>
              <a:spcBef>
                <a:spcPts val="600"/>
              </a:spcBef>
              <a:defRPr sz="1100">
                <a:solidFill>
                  <a:srgbClr val="1E293B"/>
                </a:solidFill>
              </a:defRPr>
            </a:pPr>
            <a:r>
              <a:t>Resolución por número de opción o ID; liberación del slot en ERP y Supabase.</a:t>
            </a:r>
          </a:p>
          <a:p>
            <a:pPr>
              <a:spcBef>
                <a:spcPts val="800"/>
              </a:spcBef>
              <a:defRPr sz="1000" b="1">
                <a:solidFill>
                  <a:srgbClr val="10B981"/>
                </a:solidFill>
              </a:defRPr>
            </a:pPr>
            <a:r>
              <a:t>✓ VALIDADO Y SUPERADO</a:t>
            </a:r>
          </a:p>
        </p:txBody>
      </p:sp>
      <p:sp>
        <p:nvSpPr>
          <p:cNvPr id="12" name="Rounded Rectangle 11"/>
          <p:cNvSpPr/>
          <p:nvPr/>
        </p:nvSpPr>
        <p:spPr>
          <a:xfrm>
            <a:off x="731520"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950208"/>
            <a:ext cx="2322576" cy="2020824"/>
          </a:xfrm>
          <a:prstGeom prst="rect">
            <a:avLst/>
          </a:prstGeom>
          <a:noFill/>
        </p:spPr>
        <p:txBody>
          <a:bodyPr wrap="square">
            <a:spAutoFit/>
          </a:bodyPr>
          <a:lstStyle/>
          <a:p>
            <a:pPr>
              <a:defRPr sz="1300" b="1">
                <a:solidFill>
                  <a:srgbClr val="2563EB"/>
                </a:solidFill>
              </a:defRPr>
            </a:pPr>
            <a:r>
              <a:t>TC-05: Reprogramar Turno</a:t>
            </a:r>
          </a:p>
          <a:p>
            <a:pPr>
              <a:spcBef>
                <a:spcPts val="600"/>
              </a:spcBef>
              <a:defRPr sz="1100">
                <a:solidFill>
                  <a:srgbClr val="1E293B"/>
                </a:solidFill>
              </a:defRPr>
            </a:pPr>
            <a:r>
              <a:t>Cambio en 2 fases: liberación de turno previo y asignación del nuevo horario.</a:t>
            </a:r>
          </a:p>
          <a:p>
            <a:pPr>
              <a:spcBef>
                <a:spcPts val="800"/>
              </a:spcBef>
              <a:defRPr sz="1000" b="1">
                <a:solidFill>
                  <a:srgbClr val="10B981"/>
                </a:solidFill>
              </a:defRPr>
            </a:pPr>
            <a:r>
              <a:t>✓ VALIDADO Y SUPERADO</a:t>
            </a:r>
          </a:p>
        </p:txBody>
      </p:sp>
      <p:sp>
        <p:nvSpPr>
          <p:cNvPr id="14" name="Rounded Rectangle 13"/>
          <p:cNvSpPr/>
          <p:nvPr/>
        </p:nvSpPr>
        <p:spPr>
          <a:xfrm>
            <a:off x="3456432"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3950208"/>
            <a:ext cx="2322576" cy="2020824"/>
          </a:xfrm>
          <a:prstGeom prst="rect">
            <a:avLst/>
          </a:prstGeom>
          <a:noFill/>
        </p:spPr>
        <p:txBody>
          <a:bodyPr wrap="square">
            <a:spAutoFit/>
          </a:bodyPr>
          <a:lstStyle/>
          <a:p>
            <a:pPr>
              <a:defRPr sz="1300" b="1">
                <a:solidFill>
                  <a:srgbClr val="2563EB"/>
                </a:solidFill>
              </a:defRPr>
            </a:pPr>
            <a:r>
              <a:t>TC-06: Recordatorios 24h</a:t>
            </a:r>
          </a:p>
          <a:p>
            <a:pPr>
              <a:spcBef>
                <a:spcPts val="600"/>
              </a:spcBef>
              <a:defRPr sz="1100">
                <a:solidFill>
                  <a:srgbClr val="1E293B"/>
                </a:solidFill>
              </a:defRPr>
            </a:pPr>
            <a:r>
              <a:t>Aviso proactivo con botones; confirmación en 1 clic y actualización de estado.</a:t>
            </a:r>
          </a:p>
          <a:p>
            <a:pPr>
              <a:spcBef>
                <a:spcPts val="800"/>
              </a:spcBef>
              <a:defRPr sz="1000" b="1">
                <a:solidFill>
                  <a:srgbClr val="10B981"/>
                </a:solidFill>
              </a:defRPr>
            </a:pPr>
            <a:r>
              <a:t>✓ VALIDADO Y SUPERADO</a:t>
            </a:r>
          </a:p>
        </p:txBody>
      </p:sp>
      <p:sp>
        <p:nvSpPr>
          <p:cNvPr id="16" name="Rounded Rectangle 15"/>
          <p:cNvSpPr/>
          <p:nvPr/>
        </p:nvSpPr>
        <p:spPr>
          <a:xfrm>
            <a:off x="6181344"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3950208"/>
            <a:ext cx="2322576" cy="2020824"/>
          </a:xfrm>
          <a:prstGeom prst="rect">
            <a:avLst/>
          </a:prstGeom>
          <a:noFill/>
        </p:spPr>
        <p:txBody>
          <a:bodyPr wrap="square">
            <a:spAutoFit/>
          </a:bodyPr>
          <a:lstStyle/>
          <a:p>
            <a:pPr>
              <a:defRPr sz="1300" b="1">
                <a:solidFill>
                  <a:srgbClr val="2563EB"/>
                </a:solidFill>
              </a:defRPr>
            </a:pPr>
            <a:r>
              <a:t>TC-07: Consultas RAG</a:t>
            </a:r>
          </a:p>
          <a:p>
            <a:pPr>
              <a:spcBef>
                <a:spcPts val="600"/>
              </a:spcBef>
              <a:defRPr sz="1100">
                <a:solidFill>
                  <a:srgbClr val="1E293B"/>
                </a:solidFill>
              </a:defRPr>
            </a:pPr>
            <a:r>
              <a:t>Búsqueda vectorial pgvector de precios de implantes y coberturas Sanitas.</a:t>
            </a:r>
          </a:p>
          <a:p>
            <a:pPr>
              <a:spcBef>
                <a:spcPts val="800"/>
              </a:spcBef>
              <a:defRPr sz="1000" b="1">
                <a:solidFill>
                  <a:srgbClr val="10B981"/>
                </a:solidFill>
              </a:defRPr>
            </a:pPr>
            <a:r>
              <a:t>✓ VALIDADO Y SUPERADO</a:t>
            </a:r>
          </a:p>
        </p:txBody>
      </p:sp>
      <p:sp>
        <p:nvSpPr>
          <p:cNvPr id="18" name="Rounded Rectangle 17"/>
          <p:cNvSpPr/>
          <p:nvPr/>
        </p:nvSpPr>
        <p:spPr>
          <a:xfrm>
            <a:off x="8906256"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15984" y="3950208"/>
            <a:ext cx="2322576" cy="2020824"/>
          </a:xfrm>
          <a:prstGeom prst="rect">
            <a:avLst/>
          </a:prstGeom>
          <a:noFill/>
        </p:spPr>
        <p:txBody>
          <a:bodyPr wrap="square">
            <a:spAutoFit/>
          </a:bodyPr>
          <a:lstStyle/>
          <a:p>
            <a:pPr>
              <a:defRPr sz="1300" b="1">
                <a:solidFill>
                  <a:srgbClr val="2563EB"/>
                </a:solidFill>
              </a:defRPr>
            </a:pPr>
            <a:r>
              <a:t>TC-08: Urgencia Médica (HITL)</a:t>
            </a:r>
          </a:p>
          <a:p>
            <a:pPr>
              <a:spcBef>
                <a:spcPts val="600"/>
              </a:spcBef>
              <a:defRPr sz="1100">
                <a:solidFill>
                  <a:srgbClr val="1E293B"/>
                </a:solidFill>
              </a:defRPr>
            </a:pPr>
            <a:r>
              <a:t>Triaje de código rojo con verificación de DNI, primeros auxilios y alerta personalizada a recepción.</a:t>
            </a:r>
          </a:p>
          <a:p>
            <a:pPr>
              <a:spcBef>
                <a:spcPts val="800"/>
              </a:spcBef>
              <a:defRPr sz="1000" b="1">
                <a:solidFill>
                  <a:srgbClr val="10B981"/>
                </a:solidFill>
              </a:defRPr>
            </a:pPr>
            <a:r>
              <a:t>✓ VALIDADO Y SUPERADO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6. Viabilidad Económica y Regla del 80% (UiPath)</a:t>
            </a:r>
          </a:p>
        </p:txBody>
      </p:sp>
      <p:sp>
        <p:nvSpPr>
          <p:cNvPr id="4" name="Rounded Rectangle 3"/>
          <p:cNvSpPr/>
          <p:nvPr/>
        </p:nvSpPr>
        <p:spPr>
          <a:xfrm>
            <a:off x="731520"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2267712" cy="1417320"/>
          </a:xfrm>
          <a:prstGeom prst="rect">
            <a:avLst/>
          </a:prstGeom>
          <a:noFill/>
        </p:spPr>
        <p:txBody>
          <a:bodyPr wrap="square">
            <a:spAutoFit/>
          </a:bodyPr>
          <a:lstStyle/>
          <a:p>
            <a:pPr>
              <a:defRPr sz="1150" b="1">
                <a:solidFill>
                  <a:srgbClr val="64748B"/>
                </a:solidFill>
              </a:defRPr>
            </a:pPr>
            <a:r>
              <a:t>VAN (8% Descuento)</a:t>
            </a:r>
          </a:p>
          <a:p>
            <a:pPr>
              <a:spcBef>
                <a:spcPts val="300"/>
              </a:spcBef>
              <a:defRPr sz="2600" b="1">
                <a:solidFill>
                  <a:srgbClr val="2563EB"/>
                </a:solidFill>
              </a:defRPr>
            </a:pPr>
            <a:r>
              <a:t>183.412 €</a:t>
            </a:r>
          </a:p>
          <a:p>
            <a:pPr>
              <a:spcBef>
                <a:spcPts val="200"/>
              </a:spcBef>
              <a:defRPr sz="1050">
                <a:solidFill>
                  <a:srgbClr val="1E293B"/>
                </a:solidFill>
              </a:defRPr>
            </a:pPr>
            <a:r>
              <a:t>Rentabilidad neta a 5 años</a:t>
            </a:r>
          </a:p>
        </p:txBody>
      </p:sp>
      <p:sp>
        <p:nvSpPr>
          <p:cNvPr id="6" name="Rounded Rectangle 5"/>
          <p:cNvSpPr/>
          <p:nvPr/>
        </p:nvSpPr>
        <p:spPr>
          <a:xfrm>
            <a:off x="3456432"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1508760"/>
            <a:ext cx="2267712" cy="1417320"/>
          </a:xfrm>
          <a:prstGeom prst="rect">
            <a:avLst/>
          </a:prstGeom>
          <a:noFill/>
        </p:spPr>
        <p:txBody>
          <a:bodyPr wrap="square">
            <a:spAutoFit/>
          </a:bodyPr>
          <a:lstStyle/>
          <a:p>
            <a:pPr>
              <a:defRPr sz="1150" b="1">
                <a:solidFill>
                  <a:srgbClr val="64748B"/>
                </a:solidFill>
              </a:defRPr>
            </a:pPr>
            <a:r>
              <a:t>TIR (Tasa Interna)</a:t>
            </a:r>
          </a:p>
          <a:p>
            <a:pPr>
              <a:spcBef>
                <a:spcPts val="300"/>
              </a:spcBef>
              <a:defRPr sz="2600" b="1">
                <a:solidFill>
                  <a:srgbClr val="2563EB"/>
                </a:solidFill>
              </a:defRPr>
            </a:pPr>
            <a:r>
              <a:t>312,4%</a:t>
            </a:r>
          </a:p>
          <a:p>
            <a:pPr>
              <a:spcBef>
                <a:spcPts val="200"/>
              </a:spcBef>
              <a:defRPr sz="1050">
                <a:solidFill>
                  <a:srgbClr val="1E293B"/>
                </a:solidFill>
              </a:defRPr>
            </a:pPr>
            <a:r>
              <a:t>Ampliamente superior al 8%</a:t>
            </a:r>
          </a:p>
        </p:txBody>
      </p:sp>
      <p:sp>
        <p:nvSpPr>
          <p:cNvPr id="8" name="Rounded Rectangle 7"/>
          <p:cNvSpPr/>
          <p:nvPr/>
        </p:nvSpPr>
        <p:spPr>
          <a:xfrm>
            <a:off x="6181344"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1508760"/>
            <a:ext cx="2267712" cy="1417320"/>
          </a:xfrm>
          <a:prstGeom prst="rect">
            <a:avLst/>
          </a:prstGeom>
          <a:noFill/>
        </p:spPr>
        <p:txBody>
          <a:bodyPr wrap="square">
            <a:spAutoFit/>
          </a:bodyPr>
          <a:lstStyle/>
          <a:p>
            <a:pPr>
              <a:defRPr sz="1150" b="1">
                <a:solidFill>
                  <a:srgbClr val="64748B"/>
                </a:solidFill>
              </a:defRPr>
            </a:pPr>
            <a:r>
              <a:t>Payback (Retorno)</a:t>
            </a:r>
          </a:p>
          <a:p>
            <a:pPr>
              <a:spcBef>
                <a:spcPts val="300"/>
              </a:spcBef>
              <a:defRPr sz="2600" b="1">
                <a:solidFill>
                  <a:srgbClr val="2563EB"/>
                </a:solidFill>
              </a:defRPr>
            </a:pPr>
            <a:r>
              <a:t>4,2 Meses</a:t>
            </a:r>
          </a:p>
          <a:p>
            <a:pPr>
              <a:spcBef>
                <a:spcPts val="200"/>
              </a:spcBef>
              <a:defRPr sz="1050">
                <a:solidFill>
                  <a:srgbClr val="1E293B"/>
                </a:solidFill>
              </a:defRPr>
            </a:pPr>
            <a:r>
              <a:t>Recuperación en el 1er año</a:t>
            </a:r>
          </a:p>
        </p:txBody>
      </p:sp>
      <p:sp>
        <p:nvSpPr>
          <p:cNvPr id="10" name="Rounded Rectangle 9"/>
          <p:cNvSpPr/>
          <p:nvPr/>
        </p:nvSpPr>
        <p:spPr>
          <a:xfrm>
            <a:off x="8906256"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43416" y="1508760"/>
            <a:ext cx="2267712" cy="1417320"/>
          </a:xfrm>
          <a:prstGeom prst="rect">
            <a:avLst/>
          </a:prstGeom>
          <a:noFill/>
        </p:spPr>
        <p:txBody>
          <a:bodyPr wrap="square">
            <a:spAutoFit/>
          </a:bodyPr>
          <a:lstStyle/>
          <a:p>
            <a:pPr>
              <a:defRPr sz="1150" b="1">
                <a:solidFill>
                  <a:srgbClr val="64748B"/>
                </a:solidFill>
              </a:defRPr>
            </a:pPr>
            <a:r>
              <a:t>ROI Consolidado</a:t>
            </a:r>
          </a:p>
          <a:p>
            <a:pPr>
              <a:spcBef>
                <a:spcPts val="300"/>
              </a:spcBef>
              <a:defRPr sz="2600" b="1">
                <a:solidFill>
                  <a:srgbClr val="2563EB"/>
                </a:solidFill>
              </a:defRPr>
            </a:pPr>
            <a:r>
              <a:t>1.234,8%</a:t>
            </a:r>
          </a:p>
          <a:p>
            <a:pPr>
              <a:spcBef>
                <a:spcPts val="200"/>
              </a:spcBef>
              <a:defRPr sz="1050">
                <a:solidFill>
                  <a:srgbClr val="1E293B"/>
                </a:solidFill>
              </a:defRPr>
            </a:pPr>
            <a:r>
              <a:t>Retorno de 12x la inversión</a:t>
            </a:r>
          </a:p>
        </p:txBody>
      </p:sp>
      <p:sp>
        <p:nvSpPr>
          <p:cNvPr id="12" name="Rounded Rectangle 11"/>
          <p:cNvSpPr/>
          <p:nvPr/>
        </p:nvSpPr>
        <p:spPr>
          <a:xfrm>
            <a:off x="731520" y="3246120"/>
            <a:ext cx="52120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80"/>
            <a:ext cx="4846320" cy="2651760"/>
          </a:xfrm>
          <a:prstGeom prst="rect">
            <a:avLst/>
          </a:prstGeom>
          <a:noFill/>
        </p:spPr>
        <p:txBody>
          <a:bodyPr wrap="square">
            <a:spAutoFit/>
          </a:bodyPr>
          <a:lstStyle/>
          <a:p>
            <a:pPr>
              <a:defRPr sz="1700" b="1">
                <a:solidFill>
                  <a:srgbClr val="0A2540"/>
                </a:solidFill>
              </a:defRPr>
            </a:pPr>
            <a:r>
              <a:t>💰 Beneficios Operativos Anuales</a:t>
            </a:r>
          </a:p>
          <a:p>
            <a:pPr>
              <a:spcBef>
                <a:spcPts val="600"/>
              </a:spcBef>
              <a:defRPr b="1" sz="1200">
                <a:solidFill>
                  <a:srgbClr val="1E293B"/>
                </a:solidFill>
              </a:defRPr>
            </a:pPr>
            <a:r>
              <a:t>• Liberación de Recepción (6,2 h/día): </a:t>
            </a:r>
            <a:r>
              <a:rPr b="0">
                <a:solidFill>
                  <a:srgbClr val="64748B"/>
                </a:solidFill>
              </a:rPr>
              <a:t>+22.165 €/año redirigidos a atención presencial.</a:t>
            </a:r>
          </a:p>
          <a:p>
            <a:pPr>
              <a:spcBef>
                <a:spcPts val="600"/>
              </a:spcBef>
              <a:defRPr b="1" sz="1200">
                <a:solidFill>
                  <a:srgbClr val="1E293B"/>
                </a:solidFill>
              </a:defRPr>
            </a:pPr>
            <a:r>
              <a:t>• Rescate Fuera de Horario (85%): </a:t>
            </a:r>
            <a:r>
              <a:rPr b="0">
                <a:solidFill>
                  <a:srgbClr val="64748B"/>
                </a:solidFill>
              </a:rPr>
              <a:t>+18.900 €/año en nuevos tratamientos captados.</a:t>
            </a:r>
          </a:p>
          <a:p>
            <a:pPr>
              <a:spcBef>
                <a:spcPts val="600"/>
              </a:spcBef>
              <a:defRPr b="1" sz="1200">
                <a:solidFill>
                  <a:srgbClr val="1E293B"/>
                </a:solidFill>
              </a:defRPr>
            </a:pPr>
            <a:r>
              <a:t>• Back-Office Nocturno Automático: </a:t>
            </a:r>
            <a:r>
              <a:rPr b="0">
                <a:solidFill>
                  <a:srgbClr val="64748B"/>
                </a:solidFill>
              </a:rPr>
              <a:t>+12.500 €/año en conciliación y facturación.</a:t>
            </a:r>
          </a:p>
          <a:p>
            <a:pPr>
              <a:spcBef>
                <a:spcPts val="600"/>
              </a:spcBef>
              <a:defRPr b="1" sz="1200">
                <a:solidFill>
                  <a:srgbClr val="1E293B"/>
                </a:solidFill>
              </a:defRPr>
            </a:pPr>
            <a:r>
              <a:t>• Reducción Absentismo (&lt; 6%): </a:t>
            </a:r>
            <a:r>
              <a:rPr b="0">
                <a:solidFill>
                  <a:srgbClr val="64748B"/>
                </a:solidFill>
              </a:rPr>
              <a:t>+7.400 €/año en horas de gabinete aprovechadas.</a:t>
            </a:r>
          </a:p>
        </p:txBody>
      </p:sp>
      <p:sp>
        <p:nvSpPr>
          <p:cNvPr id="14" name="Rounded Rectangle 13"/>
          <p:cNvSpPr/>
          <p:nvPr/>
        </p:nvSpPr>
        <p:spPr>
          <a:xfrm>
            <a:off x="6245352" y="3246120"/>
            <a:ext cx="5212080" cy="29260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2" y="3383280"/>
            <a:ext cx="4846320" cy="2651760"/>
          </a:xfrm>
          <a:prstGeom prst="rect">
            <a:avLst/>
          </a:prstGeom>
          <a:noFill/>
        </p:spPr>
        <p:txBody>
          <a:bodyPr wrap="square">
            <a:spAutoFit/>
          </a:bodyPr>
          <a:lstStyle/>
          <a:p>
            <a:pPr>
              <a:defRPr sz="1700" b="1">
                <a:solidFill>
                  <a:srgbClr val="2563EB"/>
                </a:solidFill>
              </a:defRPr>
            </a:pPr>
            <a:r>
              <a:t>⚙️ Justificación Regla del 80% (UiPath)</a:t>
            </a:r>
          </a:p>
          <a:p>
            <a:pPr>
              <a:spcBef>
                <a:spcPts val="600"/>
              </a:spcBef>
              <a:defRPr b="1" sz="1200">
                <a:solidFill>
                  <a:srgbClr val="1E293B"/>
                </a:solidFill>
              </a:defRPr>
            </a:pPr>
            <a:r>
              <a:t>• Franja Diurna (08:00 - 20:00): </a:t>
            </a:r>
            <a:r>
              <a:rPr b="0">
                <a:solidFill>
                  <a:srgbClr val="64748B"/>
                </a:solidFill>
              </a:rPr>
              <a:t>Citas y cancelaciones síncronas (5,4 h productivas / 45% ocupación).</a:t>
            </a:r>
          </a:p>
          <a:p>
            <a:pPr>
              <a:spcBef>
                <a:spcPts val="600"/>
              </a:spcBef>
              <a:defRPr b="1" sz="1200">
                <a:solidFill>
                  <a:srgbClr val="1E293B"/>
                </a:solidFill>
              </a:defRPr>
            </a:pPr>
            <a:r>
              <a:t>• Franja Nocturna (20:00 - 08:00): </a:t>
            </a:r>
            <a:r>
              <a:rPr b="0">
                <a:solidFill>
                  <a:srgbClr val="64748B"/>
                </a:solidFill>
              </a:rPr>
              <a:t>Conciliación aseguradoras (4,5 h) y preparación de fichas (5 h).</a:t>
            </a:r>
          </a:p>
          <a:p>
            <a:pPr>
              <a:spcBef>
                <a:spcPts val="600"/>
              </a:spcBef>
              <a:defRPr b="1" sz="1200">
                <a:solidFill>
                  <a:srgbClr val="1E293B"/>
                </a:solidFill>
              </a:defRPr>
            </a:pPr>
            <a:r>
              <a:t>• Ocupación Total del Robot: </a:t>
            </a:r>
            <a:r>
              <a:rPr b="0">
                <a:solidFill>
                  <a:srgbClr val="64748B"/>
                </a:solidFill>
              </a:rPr>
              <a:t>18,9 h diarias de trabajo efectivo (78,75% de ocupación).</a:t>
            </a:r>
          </a:p>
          <a:p>
            <a:pPr>
              <a:spcBef>
                <a:spcPts val="600"/>
              </a:spcBef>
              <a:defRPr b="1" sz="1200">
                <a:solidFill>
                  <a:srgbClr val="1E293B"/>
                </a:solidFill>
              </a:defRPr>
            </a:pPr>
            <a:r>
              <a:t>• Conclusión Financiera: </a:t>
            </a:r>
            <a:r>
              <a:rPr b="0">
                <a:solidFill>
                  <a:srgbClr val="64748B"/>
                </a:solidFill>
              </a:rPr>
              <a:t>La licencia UiPath Enterprise queda 100% justificada y rentabilizada.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7. Gobernanza Ética, Seguridad y Cumplimiento RGPD</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1900" b="1">
                <a:solidFill>
                  <a:srgbClr val="2563EB"/>
                </a:solidFill>
              </a:defRPr>
            </a:pPr>
            <a:r>
              <a:t>Marco Legal RGPD</a:t>
            </a:r>
          </a:p>
          <a:p>
            <a:pPr>
              <a:spcBef>
                <a:spcPts val="1400"/>
              </a:spcBef>
              <a:defRPr b="1" sz="1200">
                <a:solidFill>
                  <a:srgbClr val="1E293B"/>
                </a:solidFill>
              </a:defRPr>
            </a:pPr>
            <a:r>
              <a:t>• Datos Especiales (Art. 9): </a:t>
            </a:r>
            <a:r>
              <a:rPr b="0">
                <a:solidFill>
                  <a:srgbClr val="64748B"/>
                </a:solidFill>
              </a:rPr>
              <a:t>Tratamiento de datos de salud fundamentado en consentimiento explícito.</a:t>
            </a:r>
          </a:p>
          <a:p>
            <a:pPr>
              <a:spcBef>
                <a:spcPts val="1400"/>
              </a:spcBef>
              <a:defRPr b="1" sz="1200">
                <a:solidFill>
                  <a:srgbClr val="1E293B"/>
                </a:solidFill>
              </a:defRPr>
            </a:pPr>
            <a:r>
              <a:t>• Consentimiento Previo: </a:t>
            </a:r>
            <a:r>
              <a:rPr b="0">
                <a:solidFill>
                  <a:srgbClr val="64748B"/>
                </a:solidFill>
              </a:rPr>
              <a:t>Disclaimer legal obligatorio y botón de aceptación en Telegram.</a:t>
            </a:r>
          </a:p>
          <a:p>
            <a:pPr>
              <a:spcBef>
                <a:spcPts val="1400"/>
              </a:spcBef>
              <a:defRPr b="1" sz="1200">
                <a:solidFill>
                  <a:srgbClr val="1E293B"/>
                </a:solidFill>
              </a:defRPr>
            </a:pPr>
            <a:r>
              <a:t>• Auditoría Inmutable: </a:t>
            </a:r>
            <a:r>
              <a:rPr b="0">
                <a:solidFill>
                  <a:srgbClr val="64748B"/>
                </a:solidFill>
              </a:rPr>
              <a:t>Tabla clinica_auditoria en Supabase registra timestamp, chat_id y ejecuciones.</a:t>
            </a:r>
          </a:p>
        </p:txBody>
      </p:sp>
      <p:sp>
        <p:nvSpPr>
          <p:cNvPr id="6" name="Rounded Rectangle 5"/>
          <p:cNvSpPr/>
          <p:nvPr/>
        </p:nvSpPr>
        <p:spPr>
          <a:xfrm>
            <a:off x="4425696"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1900" b="1">
                <a:solidFill>
                  <a:srgbClr val="0A2540"/>
                </a:solidFill>
              </a:defRPr>
            </a:pPr>
            <a:r>
              <a:t>Privacidad en IA</a:t>
            </a:r>
          </a:p>
          <a:p>
            <a:pPr>
              <a:spcBef>
                <a:spcPts val="1400"/>
              </a:spcBef>
              <a:defRPr b="1" sz="1200">
                <a:solidFill>
                  <a:srgbClr val="1E293B"/>
                </a:solidFill>
              </a:defRPr>
            </a:pPr>
            <a:r>
              <a:t>• Arquitectura Ciega: </a:t>
            </a:r>
            <a:r>
              <a:rPr b="0">
                <a:solidFill>
                  <a:srgbClr val="64748B"/>
                </a:solidFill>
              </a:rPr>
              <a:t>Nunca se envían juntos a OpenAI DNI, Nombre completo y síntoma médico.</a:t>
            </a:r>
          </a:p>
          <a:p>
            <a:pPr>
              <a:spcBef>
                <a:spcPts val="1400"/>
              </a:spcBef>
              <a:defRPr b="1" sz="1200">
                <a:solidFill>
                  <a:srgbClr val="1E293B"/>
                </a:solidFill>
              </a:defRPr>
            </a:pPr>
            <a:r>
              <a:t>• Contratos DPA Zero-Retention: </a:t>
            </a:r>
            <a:r>
              <a:rPr b="0">
                <a:solidFill>
                  <a:srgbClr val="64748B"/>
                </a:solidFill>
              </a:rPr>
              <a:t>Acuerdos que prohíben el reentrenamiento de modelos con datos de pacientes.</a:t>
            </a:r>
          </a:p>
          <a:p>
            <a:pPr>
              <a:spcBef>
                <a:spcPts val="1400"/>
              </a:spcBef>
              <a:defRPr b="1" sz="1200">
                <a:solidFill>
                  <a:srgbClr val="1E293B"/>
                </a:solidFill>
              </a:defRPr>
            </a:pPr>
            <a:r>
              <a:t>• Cifrado AES-256 &amp; TLS 1.3: </a:t>
            </a:r>
            <a:r>
              <a:rPr b="0">
                <a:solidFill>
                  <a:srgbClr val="64748B"/>
                </a:solidFill>
              </a:rPr>
              <a:t>Seguridad integral de extremo a extremo en tránsito y en reposo.</a:t>
            </a:r>
          </a:p>
        </p:txBody>
      </p:sp>
      <p:sp>
        <p:nvSpPr>
          <p:cNvPr id="8" name="Rounded Rectangle 7"/>
          <p:cNvSpPr/>
          <p:nvPr/>
        </p:nvSpPr>
        <p:spPr>
          <a:xfrm>
            <a:off x="8119872"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1900" b="1">
                <a:solidFill>
                  <a:srgbClr val="10B981"/>
                </a:solidFill>
              </a:defRPr>
            </a:pPr>
            <a:r>
              <a:t>Gobernanza Médica</a:t>
            </a:r>
          </a:p>
          <a:p>
            <a:pPr>
              <a:spcBef>
                <a:spcPts val="1400"/>
              </a:spcBef>
              <a:defRPr b="1" sz="1200">
                <a:solidFill>
                  <a:srgbClr val="1E293B"/>
                </a:solidFill>
              </a:defRPr>
            </a:pPr>
            <a:r>
              <a:t>• Cero Diagnósticos: </a:t>
            </a:r>
            <a:r>
              <a:rPr b="0">
                <a:solidFill>
                  <a:srgbClr val="64748B"/>
                </a:solidFill>
              </a:rPr>
              <a:t>Guardrails estrictos que prohíben recetar o emitir diagnósticos médicos.</a:t>
            </a:r>
          </a:p>
          <a:p>
            <a:pPr>
              <a:spcBef>
                <a:spcPts val="1400"/>
              </a:spcBef>
              <a:defRPr b="1" sz="1200">
                <a:solidFill>
                  <a:srgbClr val="1E293B"/>
                </a:solidFill>
              </a:defRPr>
            </a:pPr>
            <a:r>
              <a:t>• Triaje con Escalado Humano: </a:t>
            </a:r>
            <a:r>
              <a:rPr b="0">
                <a:solidFill>
                  <a:srgbClr val="64748B"/>
                </a:solidFill>
              </a:rPr>
              <a:t>Urgencias y quejas severas activan alerta inmediata a recepción.</a:t>
            </a:r>
          </a:p>
          <a:p>
            <a:pPr>
              <a:spcBef>
                <a:spcPts val="1400"/>
              </a:spcBef>
              <a:defRPr b="1" sz="1200">
                <a:solidFill>
                  <a:srgbClr val="1E293B"/>
                </a:solidFill>
              </a:defRPr>
            </a:pPr>
            <a:r>
              <a:t>• EIPD / DPIA Formal: </a:t>
            </a:r>
            <a:r>
              <a:rPr b="0">
                <a:solidFill>
                  <a:srgbClr val="64748B"/>
                </a:solidFill>
              </a:rPr>
              <a:t>Evaluación de impacto completada con riesgo residual catalogado como BAJO.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8. Conclusiones y Futuras Líneas de Innovación</a:t>
            </a:r>
          </a:p>
        </p:txBody>
      </p:sp>
      <p:sp>
        <p:nvSpPr>
          <p:cNvPr id="4" name="Rounded Rectangle 3"/>
          <p:cNvSpPr/>
          <p:nvPr/>
        </p:nvSpPr>
        <p:spPr>
          <a:xfrm>
            <a:off x="731520" y="141732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4389120"/>
          </a:xfrm>
          <a:prstGeom prst="rect">
            <a:avLst/>
          </a:prstGeom>
          <a:noFill/>
        </p:spPr>
        <p:txBody>
          <a:bodyPr wrap="square">
            <a:spAutoFit/>
          </a:bodyPr>
          <a:lstStyle/>
          <a:p>
            <a:pPr>
              <a:defRPr sz="1900" b="1">
                <a:solidFill>
                  <a:srgbClr val="0A2540"/>
                </a:solidFill>
              </a:defRPr>
            </a:pPr>
            <a:r>
              <a:t>🏆 Conclusiones Principales</a:t>
            </a:r>
          </a:p>
          <a:p>
            <a:pPr>
              <a:spcBef>
                <a:spcPts val="1200"/>
              </a:spcBef>
              <a:defRPr b="1" sz="1300">
                <a:solidFill>
                  <a:srgbClr val="1E293B"/>
                </a:solidFill>
              </a:defRPr>
            </a:pPr>
            <a:r>
              <a:t>• Convergencia IA + RPA Demostrada: </a:t>
            </a:r>
            <a:r>
              <a:rPr b="0">
                <a:solidFill>
                  <a:srgbClr val="64748B"/>
                </a:solidFill>
              </a:rPr>
              <a:t>La IA aporta razonamiento flexible y RPA garantiza la ejecución exacta en el ERP legado.</a:t>
            </a:r>
          </a:p>
          <a:p>
            <a:pPr>
              <a:spcBef>
                <a:spcPts val="1200"/>
              </a:spcBef>
              <a:defRPr b="1" sz="1300">
                <a:solidFill>
                  <a:srgbClr val="1E293B"/>
                </a:solidFill>
              </a:defRPr>
            </a:pPr>
            <a:r>
              <a:t>• 74,2% de Autogestión Autónoma: </a:t>
            </a:r>
            <a:r>
              <a:rPr b="0">
                <a:solidFill>
                  <a:srgbClr val="64748B"/>
                </a:solidFill>
              </a:rPr>
              <a:t>Casi 3 de cada 4 interacciones se resuelven sin requerir personal de recepción.</a:t>
            </a:r>
          </a:p>
          <a:p>
            <a:pPr>
              <a:spcBef>
                <a:spcPts val="1200"/>
              </a:spcBef>
              <a:defRPr b="1" sz="1300">
                <a:solidFill>
                  <a:srgbClr val="1E293B"/>
                </a:solidFill>
              </a:defRPr>
            </a:pPr>
            <a:r>
              <a:t>• Humanización de la Consulta: </a:t>
            </a:r>
            <a:r>
              <a:rPr b="0">
                <a:solidFill>
                  <a:srgbClr val="64748B"/>
                </a:solidFill>
              </a:rPr>
              <a:t>6,2 h/día liberadas para que el personal se dedique al cuidado presencial del paciente.</a:t>
            </a:r>
          </a:p>
          <a:p>
            <a:pPr>
              <a:spcBef>
                <a:spcPts val="1200"/>
              </a:spcBef>
              <a:defRPr b="1" sz="1300">
                <a:solidFill>
                  <a:srgbClr val="1E293B"/>
                </a:solidFill>
              </a:defRPr>
            </a:pPr>
            <a:r>
              <a:t>• Cumplimiento Integral EBIS: </a:t>
            </a:r>
            <a:r>
              <a:rPr b="0">
                <a:solidFill>
                  <a:srgbClr val="64748B"/>
                </a:solidFill>
              </a:rPr>
              <a:t>Solución robusta, con manejo de excepciones probado y retorno financiero en 4 meses.</a:t>
            </a:r>
          </a:p>
        </p:txBody>
      </p:sp>
      <p:sp>
        <p:nvSpPr>
          <p:cNvPr id="6" name="Rounded Rectangle 5"/>
          <p:cNvSpPr/>
          <p:nvPr/>
        </p:nvSpPr>
        <p:spPr>
          <a:xfrm>
            <a:off x="6245352" y="1417320"/>
            <a:ext cx="5212080" cy="4754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8232" y="1600200"/>
            <a:ext cx="4846320" cy="4389120"/>
          </a:xfrm>
          <a:prstGeom prst="rect">
            <a:avLst/>
          </a:prstGeom>
          <a:noFill/>
        </p:spPr>
        <p:txBody>
          <a:bodyPr wrap="square">
            <a:spAutoFit/>
          </a:bodyPr>
          <a:lstStyle/>
          <a:p>
            <a:pPr>
              <a:defRPr sz="1900" b="1">
                <a:solidFill>
                  <a:srgbClr val="2563EB"/>
                </a:solidFill>
              </a:defRPr>
            </a:pPr>
            <a:r>
              <a:t>🚀 Próximas Líneas de Evolución</a:t>
            </a:r>
          </a:p>
          <a:p>
            <a:pPr>
              <a:spcBef>
                <a:spcPts val="1200"/>
              </a:spcBef>
              <a:defRPr b="1" sz="1300">
                <a:solidFill>
                  <a:srgbClr val="1E293B"/>
                </a:solidFill>
              </a:defRPr>
            </a:pPr>
            <a:r>
              <a:t>• Voicebots Telefónicos Realtime: </a:t>
            </a:r>
            <a:r>
              <a:rPr b="0">
                <a:solidFill>
                  <a:srgbClr val="64748B"/>
                </a:solidFill>
              </a:rPr>
              <a:t>Llamadas de voz ultra-fluidas (&lt;600 ms) para pacientes de tercera edad.</a:t>
            </a:r>
          </a:p>
          <a:p>
            <a:pPr>
              <a:spcBef>
                <a:spcPts val="1200"/>
              </a:spcBef>
              <a:defRPr b="1" sz="1300">
                <a:solidFill>
                  <a:srgbClr val="1E293B"/>
                </a:solidFill>
              </a:defRPr>
            </a:pPr>
            <a:r>
              <a:t>• Model Context Protocol (MCP): </a:t>
            </a:r>
            <a:r>
              <a:rPr b="0">
                <a:solidFill>
                  <a:srgbClr val="64748B"/>
                </a:solidFill>
              </a:rPr>
              <a:t>Estandarización de herramientas desacoplada del proveedor de modelo.</a:t>
            </a:r>
          </a:p>
          <a:p>
            <a:pPr>
              <a:spcBef>
                <a:spcPts val="1200"/>
              </a:spcBef>
              <a:defRPr b="1" sz="1300">
                <a:solidFill>
                  <a:srgbClr val="1E293B"/>
                </a:solidFill>
              </a:defRPr>
            </a:pPr>
            <a:r>
              <a:t>• Visión e IDP de Volantes: </a:t>
            </a:r>
            <a:r>
              <a:rPr b="0">
                <a:solidFill>
                  <a:srgbClr val="64748B"/>
                </a:solidFill>
              </a:rPr>
              <a:t>Lectura automática de recetas, volantes de seguro y radiografías en el chat.</a:t>
            </a:r>
          </a:p>
          <a:p>
            <a:pPr>
              <a:spcBef>
                <a:spcPts val="1200"/>
              </a:spcBef>
              <a:defRPr b="1" sz="1300">
                <a:solidFill>
                  <a:srgbClr val="1E293B"/>
                </a:solidFill>
              </a:defRPr>
            </a:pPr>
            <a:r>
              <a:t>• Expansión Multiclínica: </a:t>
            </a:r>
            <a:r>
              <a:rPr b="0">
                <a:solidFill>
                  <a:srgbClr val="64748B"/>
                </a:solidFill>
              </a:rPr>
              <a:t>Arquitectura multi-tenant para despliegue en redes de policlínicas.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445752" cy="3474720"/>
          </a:xfrm>
          <a:prstGeom prst="rect">
            <a:avLst/>
          </a:prstGeom>
          <a:noFill/>
        </p:spPr>
        <p:txBody>
          <a:bodyPr wrap="square">
            <a:spAutoFit/>
          </a:bodyPr>
          <a:lstStyle/>
          <a:p>
            <a:pPr algn="ctr">
              <a:defRPr sz="3800" b="1">
                <a:solidFill>
                  <a:srgbClr val="FFFFFF"/>
                </a:solidFill>
              </a:defRPr>
            </a:pPr>
            <a:r>
              <a:t>¡Muchas Gracias por su Atención!</a:t>
            </a:r>
          </a:p>
          <a:p>
            <a:pPr algn="ctr">
              <a:spcBef>
                <a:spcPts val="1600"/>
              </a:spcBef>
              <a:defRPr sz="1900">
                <a:solidFill>
                  <a:srgbClr val="0EA5E9"/>
                </a:solidFill>
              </a:defRPr>
            </a:pPr>
            <a:r>
              <a:t>Clínica Dental Neclatrony — Hiperautomatización de Procesos Clínicos con IA &amp; RPA</a:t>
            </a:r>
          </a:p>
          <a:p>
            <a:pPr algn="ctr">
              <a:spcBef>
                <a:spcPts val="2600"/>
              </a:spcBef>
              <a:defRPr sz="1600" b="1">
                <a:solidFill>
                  <a:srgbClr val="10B981"/>
                </a:solidFill>
              </a:defRPr>
            </a:pPr>
            <a:r>
              <a:t>Q&amp;A — Turno de Preguntas del Tribunal Evaluador</a:t>
            </a:r>
          </a:p>
          <a:p>
            <a:pPr algn="ctr">
              <a:spcBef>
                <a:spcPts val="1800"/>
              </a:spcBef>
              <a:defRPr sz="1300">
                <a:solidFill>
                  <a:srgbClr val="94A3B8"/>
                </a:solidFill>
              </a:defRPr>
            </a:pPr>
            <a:r>
              <a:t>Sabrina Esposito  ·  EBIS Business Techschool  ·  Octubre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